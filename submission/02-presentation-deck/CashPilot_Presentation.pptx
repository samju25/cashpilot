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cd34c28-04a1-2fc2-4e3f-60d1d5b27384}">
          <p14:sldIdLst>
            <p14:sldId id="256"/>
          </p14:sldIdLst>
        </p14:section>
        <p14:section name="Problem" id="{086e1dcd-27f9-9b24-dd1d-29949f612b69}">
          <p14:sldIdLst>
            <p14:sldId id="257"/>
          </p14:sldIdLst>
        </p14:section>
        <p14:section name="Task completion" id="{c45e2efa-2a4c-3a41-8e53-e6b09cbd224e}">
          <p14:sldIdLst>
            <p14:sldId id="258"/>
            <p14:sldId id="259"/>
            <p14:sldId id="260"/>
          </p14:sldIdLst>
        </p14:section>
        <p14:section name="Innovation" id="{f684c172-1fd8-f7af-2f32-43eec7e5aa06}">
          <p14:sldIdLst>
            <p14:sldId id="261"/>
            <p14:sldId id="262"/>
          </p14:sldIdLst>
        </p14:section>
        <p14:section name="Security" id="{159026d3-ff1e-1ef8-ce53-bba47852c9ac}">
          <p14:sldIdLst>
            <p14:sldId id="263"/>
            <p14:sldId id="264"/>
          </p14:sldIdLst>
        </p14:section>
        <p14:section name="Evidence" id="{58ff3322-e74c-3a1f-8ce3-d70ffb277014}">
          <p14:sldIdLst>
            <p14:sldId id="265"/>
            <p14:sldId id="266"/>
          </p14:sldIdLst>
        </p14:section>
        <p14:section name="Close" id="{43eee6f6-e2a1-4117-e8a7-068be92b53a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the CashPilot team: Sampad, Purno, Binoy and Parban. CashPilot is our answer to Topic E: a finance copilot for small-business owners. In one sentence: it reads the bank statements the owner already has, warns them before cash runs out, matches them to the cheapest honest financing, and drafts the request. It is a real financial participant, but by design it can never move money.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timing, not profit. A business buys stock on day 0, pays the supplier on day 30, sells on day 45 on 60-day terms and collects on day 105. That is a 75-day gap. Owners discover it when payroll bounces. Banks take weeks; fast lenders hide the cost behind factor rates. And a generic chatbot that guesses numbers cannot be trusted near money.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asks for three things, and CashPilot does each from one uploaded statement. One: cash-flow management with alerts, down to the day cash goes negative. Two: financing matching, scored from transaction behaviour the way WeBank-style digital lenders do it, ranked by true APR with predatory offers flagged. Three: business analysis with 25 deterministic engines.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product with the built-in sample company. The first thing the owner sees is a date: cash runs short on October 28, when payroll lands. It shows the size of the gap and links straight to a drafted fix: a $7,500 credit-line draw covering the shortfall plus a safety margin.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Funding. The liquidity score comes from transaction behaviour: average daily balance, income steadiness and bounced payments. No audited accounts or property collateral needed. Every offer is converted to a true APR and to a dollar cost for this exact need. The advance quoted as a 1.35 factor rate is really 71.2% APR, so it is flagged predatory and kept out of the defaults.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choice: separate language from arithmetic. Guardrails run first, an embedding router picks the intent, subagents call deterministic Decimal engines, and only then does the model write sentences. If its answer quotes any figure the engine didn't produce, we throw the answer away. It runs on a 2-billion-parameter model on the owner's own computer, so statements never have to leave the machine.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six layers. The browser is treated as an untrusted display. The gateway validates every request strictly. The agent layer reasons but holds no credentials. The deterministic engine does all money maths. Storage is owner-only and can be encrypted. The invoice registry blocks double financing. Today it runs as a local simulation, and the Solidity contract is ready for FISCO BCOS.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30% of the score, and our answer is structural. Tier 1 is read-only and autonomous. Tier 2 lets the agent draft a proposal, but only for a caller with a signed tenant token. Tier 3, anything that moves money, has no execution route at all. The owner gets a pre-filled request and sends it themselves. With no payment credentials in the system, there is nothing for an attacker to steal or trigger.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just design this; we attacked it. Our sandbox replay runs 34 operations against the real API, including forged tokens, cross-tenant access, calling an execute route, smuggling an execute-now field, and a prompt injection asking to wire $50,000 sent with a valid token. Every one was refused, and the logs are in our execution evidence. Our self-assessment also lists 14 known risks openly, such as single-process storage and 30-day tokens with no revocation.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reproducible. 969 tests pass. The demo video drives the real UI against the live backend and the local model. When we upload a 94-transaction statement, the backend parses, scores and forecasts it in about a tenth of a second. Every claim in our documents points to a test, a log line or a file.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explicit about the line between built and planned. Everything on the left runs and is tested today. On the right: deploying the invoice registry on a FISCO BCOS consortium chain so lenders share one source of truth, moving storage to PostgreSQL with row-level security, read-only open-banking feeds, push alerts, and stronger masking and sign-in.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CashPilot shows what AI as a financial participant can look like when it is safe. It completes the real tasks of Topic E, it is secure by construction because the agent can never move money, and it is new in how it keeps every number grounded and every policy reviewable. Thank you, we are happy to take questions.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2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CashPilot · FinTechathon 2026 · Topic E: SME Finance Copilot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051560"/>
            <a:ext cx="822960" cy="822960"/>
          </a:xfrm>
          <a:prstGeom prst="ellipse">
            <a:avLst/>
          </a:prstGeom>
          <a:solidFill>
            <a:srgbClr val="6EE7B7"/>
          </a:solidFill>
          <a:ln/>
        </p:spPr>
      </p:sp>
      <p:sp>
        <p:nvSpPr>
          <p:cNvPr id="3" name="Text 1"/>
          <p:cNvSpPr txBox="1"/>
          <p:nvPr/>
        </p:nvSpPr>
        <p:spPr>
          <a:xfrm>
            <a:off x="731520" y="1051560"/>
            <a:ext cx="822960" cy="822960"/>
          </a:xfrm>
          <a:prstGeom prst="rect">
            <a:avLst/>
          </a:prstGeom>
          <a:noFill/>
          <a:ln/>
        </p:spPr>
        <p:txBody>
          <a:bodyPr wrap="square" lIns="0" tIns="0" rIns="0" bIns="0" rtlCol="0" anchor="ctr"/>
          <a:lstStyle/>
          <a:p>
            <a:pPr algn="ctr" indent="0" marL="0">
              <a:buNone/>
            </a:pPr>
            <a:r>
              <a:rPr lang="en-US" sz="3000" b="1" dirty="0">
                <a:solidFill>
                  <a:srgbClr val="0B1220"/>
                </a:solidFill>
                <a:latin typeface="Calibri" pitchFamily="34" charset="0"/>
                <a:ea typeface="Calibri" pitchFamily="34" charset="-122"/>
                <a:cs typeface="Calibri" pitchFamily="34" charset="-120"/>
              </a:rPr>
              <a:t>➤</a:t>
            </a:r>
            <a:endParaRPr lang="en-US" sz="3000" dirty="0"/>
          </a:p>
        </p:txBody>
      </p:sp>
      <p:sp>
        <p:nvSpPr>
          <p:cNvPr id="4" name="Text 2"/>
          <p:cNvSpPr txBox="1"/>
          <p:nvPr/>
        </p:nvSpPr>
        <p:spPr>
          <a:xfrm>
            <a:off x="731520" y="2103120"/>
            <a:ext cx="10058400" cy="109728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CashPilot</a:t>
            </a:r>
            <a:endParaRPr lang="en-US" sz="6600" dirty="0"/>
          </a:p>
        </p:txBody>
      </p:sp>
      <p:sp>
        <p:nvSpPr>
          <p:cNvPr id="5" name="Text 3"/>
          <p:cNvSpPr txBox="1"/>
          <p:nvPr/>
        </p:nvSpPr>
        <p:spPr>
          <a:xfrm>
            <a:off x="731520" y="3200400"/>
            <a:ext cx="10058400" cy="548640"/>
          </a:xfrm>
          <a:prstGeom prst="rect">
            <a:avLst/>
          </a:prstGeom>
          <a:noFill/>
          <a:ln/>
        </p:spPr>
        <p:txBody>
          <a:bodyPr wrap="square" lIns="0" tIns="0" rIns="0" bIns="0" rtlCol="0" anchor="ctr"/>
          <a:lstStyle/>
          <a:p>
            <a:pPr indent="0" marL="0">
              <a:buNone/>
            </a:pPr>
            <a:r>
              <a:rPr lang="en-US" sz="2800" dirty="0">
                <a:solidFill>
                  <a:srgbClr val="6EE7B7"/>
                </a:solidFill>
                <a:latin typeface="Calibri" pitchFamily="34" charset="0"/>
                <a:ea typeface="Calibri" pitchFamily="34" charset="-122"/>
                <a:cs typeface="Calibri" pitchFamily="34" charset="-120"/>
              </a:rPr>
              <a:t>An AI finance copilot for small-business owners</a:t>
            </a:r>
            <a:endParaRPr lang="en-US" sz="2800" dirty="0"/>
          </a:p>
        </p:txBody>
      </p:sp>
      <p:sp>
        <p:nvSpPr>
          <p:cNvPr id="6" name="Text 4"/>
          <p:cNvSpPr txBox="1"/>
          <p:nvPr/>
        </p:nvSpPr>
        <p:spPr>
          <a:xfrm>
            <a:off x="731520" y="3931920"/>
            <a:ext cx="9601200" cy="91440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It reads your bank statements, warns you before cash runs out, finds the cheapest honest financing, and drafts the paperwork. It never moves your money.</a:t>
            </a:r>
            <a:endParaRPr lang="en-US" sz="1800" dirty="0"/>
          </a:p>
        </p:txBody>
      </p:sp>
      <p:sp>
        <p:nvSpPr>
          <p:cNvPr id="7" name="Text 5"/>
          <p:cNvSpPr txBox="1"/>
          <p:nvPr/>
        </p:nvSpPr>
        <p:spPr>
          <a:xfrm>
            <a:off x="731520" y="4983480"/>
            <a:ext cx="1828800" cy="320040"/>
          </a:xfrm>
          <a:prstGeom prst="rect">
            <a:avLst/>
          </a:prstGeom>
          <a:noFill/>
          <a:ln/>
        </p:spPr>
        <p:txBody>
          <a:bodyPr wrap="square" lIns="0" tIns="0" rIns="0" bIns="0" rtlCol="0" anchor="ctr"/>
          <a:lstStyle/>
          <a:p>
            <a:pPr indent="0" marL="0">
              <a:buNone/>
            </a:pPr>
            <a:r>
              <a:rPr lang="en-US" sz="1300" b="1" spc="200" kern="0" dirty="0">
                <a:solidFill>
                  <a:srgbClr val="6EE7B7"/>
                </a:solidFill>
                <a:latin typeface="Calibri" pitchFamily="34" charset="0"/>
                <a:ea typeface="Calibri" pitchFamily="34" charset="-122"/>
                <a:cs typeface="Calibri" pitchFamily="34" charset="-120"/>
              </a:rPr>
              <a:t>Team</a:t>
            </a:r>
            <a:endParaRPr lang="en-US" sz="1300" dirty="0"/>
          </a:p>
        </p:txBody>
      </p:sp>
      <p:sp>
        <p:nvSpPr>
          <p:cNvPr id="8" name="Text 6"/>
          <p:cNvSpPr txBox="1"/>
          <p:nvPr/>
        </p:nvSpPr>
        <p:spPr>
          <a:xfrm>
            <a:off x="731520" y="5303520"/>
            <a:ext cx="1051560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Sampad Chakma  ·  Purno Dewan  ·  Binoy Kumar Chakma  ·  Parban Chakma</a:t>
            </a:r>
            <a:endParaRPr lang="en-US" sz="1800" dirty="0"/>
          </a:p>
        </p:txBody>
      </p:sp>
      <p:sp>
        <p:nvSpPr>
          <p:cNvPr id="9" name="Text 7"/>
          <p:cNvSpPr txBox="1"/>
          <p:nvPr/>
        </p:nvSpPr>
        <p:spPr>
          <a:xfrm>
            <a:off x="731520" y="5852160"/>
            <a:ext cx="109728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FinTechathon 2026 International Track  ·  Theme: AI as a Financial Participant  ·  Topic E: SME Finance Copilot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Small businesses run out of cash before they run out of profit</a:t>
            </a:r>
            <a:endParaRPr lang="en-US" sz="3200" dirty="0"/>
          </a:p>
        </p:txBody>
      </p:sp>
      <p:sp>
        <p:nvSpPr>
          <p:cNvPr id="3" name="Shape 1"/>
          <p:cNvSpPr/>
          <p:nvPr/>
        </p:nvSpPr>
        <p:spPr>
          <a:xfrm>
            <a:off x="914400" y="2331720"/>
            <a:ext cx="8778240" cy="0"/>
          </a:xfrm>
          <a:prstGeom prst="line">
            <a:avLst/>
          </a:prstGeom>
          <a:noFill/>
          <a:ln w="38100">
            <a:solidFill>
              <a:srgbClr val="2A3654"/>
            </a:solidFill>
            <a:prstDash val="solid"/>
          </a:ln>
        </p:spPr>
      </p:sp>
      <p:sp>
        <p:nvSpPr>
          <p:cNvPr id="4" name="Shape 2"/>
          <p:cNvSpPr/>
          <p:nvPr/>
        </p:nvSpPr>
        <p:spPr>
          <a:xfrm>
            <a:off x="777240" y="2194560"/>
            <a:ext cx="274320" cy="274320"/>
          </a:xfrm>
          <a:prstGeom prst="ellipse">
            <a:avLst/>
          </a:prstGeom>
          <a:solidFill>
            <a:srgbClr val="CBD5E1"/>
          </a:solidFill>
          <a:ln/>
        </p:spPr>
      </p:sp>
      <p:sp>
        <p:nvSpPr>
          <p:cNvPr id="5" name="Text 3"/>
          <p:cNvSpPr txBox="1"/>
          <p:nvPr/>
        </p:nvSpPr>
        <p:spPr>
          <a:xfrm>
            <a:off x="731520" y="1600200"/>
            <a:ext cx="2743200" cy="457200"/>
          </a:xfrm>
          <a:prstGeom prst="rect">
            <a:avLst/>
          </a:prstGeom>
          <a:noFill/>
          <a:ln/>
        </p:spPr>
        <p:txBody>
          <a:bodyPr wrap="square" lIns="0" tIns="0" rIns="0" bIns="0" rtlCol="0" anchor="ctr"/>
          <a:lstStyle/>
          <a:p>
            <a:pPr indent="0" marL="0">
              <a:buNone/>
            </a:pPr>
            <a:r>
              <a:rPr lang="en-US" sz="2200" b="1" dirty="0">
                <a:solidFill>
                  <a:srgbClr val="CBD5E1"/>
                </a:solidFill>
                <a:latin typeface="Calibri" pitchFamily="34" charset="0"/>
                <a:ea typeface="Calibri" pitchFamily="34" charset="-122"/>
                <a:cs typeface="Calibri" pitchFamily="34" charset="-120"/>
              </a:rPr>
              <a:t>Day 0</a:t>
            </a:r>
            <a:endParaRPr lang="en-US" sz="2200" dirty="0"/>
          </a:p>
        </p:txBody>
      </p:sp>
      <p:sp>
        <p:nvSpPr>
          <p:cNvPr id="6" name="Text 4"/>
          <p:cNvSpPr txBox="1"/>
          <p:nvPr/>
        </p:nvSpPr>
        <p:spPr>
          <a:xfrm>
            <a:off x="731520" y="2606040"/>
            <a:ext cx="2468880" cy="68580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Buy stock</a:t>
            </a:r>
            <a:endParaRPr lang="en-US" sz="1600" dirty="0"/>
          </a:p>
        </p:txBody>
      </p:sp>
      <p:sp>
        <p:nvSpPr>
          <p:cNvPr id="7" name="Shape 5"/>
          <p:cNvSpPr/>
          <p:nvPr/>
        </p:nvSpPr>
        <p:spPr>
          <a:xfrm>
            <a:off x="3703320" y="2194560"/>
            <a:ext cx="274320" cy="274320"/>
          </a:xfrm>
          <a:prstGeom prst="ellipse">
            <a:avLst/>
          </a:prstGeom>
          <a:solidFill>
            <a:srgbClr val="F87171"/>
          </a:solidFill>
          <a:ln/>
        </p:spPr>
      </p:sp>
      <p:sp>
        <p:nvSpPr>
          <p:cNvPr id="8" name="Text 6"/>
          <p:cNvSpPr txBox="1"/>
          <p:nvPr/>
        </p:nvSpPr>
        <p:spPr>
          <a:xfrm>
            <a:off x="3657600" y="1600200"/>
            <a:ext cx="2743200" cy="457200"/>
          </a:xfrm>
          <a:prstGeom prst="rect">
            <a:avLst/>
          </a:prstGeom>
          <a:noFill/>
          <a:ln/>
        </p:spPr>
        <p:txBody>
          <a:bodyPr wrap="square" lIns="0" tIns="0" rIns="0" bIns="0" rtlCol="0" anchor="ctr"/>
          <a:lstStyle/>
          <a:p>
            <a:pPr indent="0" marL="0">
              <a:buNone/>
            </a:pPr>
            <a:r>
              <a:rPr lang="en-US" sz="2200" b="1" dirty="0">
                <a:solidFill>
                  <a:srgbClr val="F87171"/>
                </a:solidFill>
                <a:latin typeface="Calibri" pitchFamily="34" charset="0"/>
                <a:ea typeface="Calibri" pitchFamily="34" charset="-122"/>
                <a:cs typeface="Calibri" pitchFamily="34" charset="-120"/>
              </a:rPr>
              <a:t>Day 30</a:t>
            </a:r>
            <a:endParaRPr lang="en-US" sz="2200" dirty="0"/>
          </a:p>
        </p:txBody>
      </p:sp>
      <p:sp>
        <p:nvSpPr>
          <p:cNvPr id="9" name="Text 7"/>
          <p:cNvSpPr txBox="1"/>
          <p:nvPr/>
        </p:nvSpPr>
        <p:spPr>
          <a:xfrm>
            <a:off x="3657600" y="2606040"/>
            <a:ext cx="2468880" cy="68580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Pay supplier</a:t>
            </a:r>
            <a:endParaRPr lang="en-US" sz="1600" dirty="0"/>
          </a:p>
          <a:p>
            <a:pPr indent="0" marL="0">
              <a:buNone/>
            </a:pPr>
            <a:r>
              <a:rPr lang="en-US" sz="1600" dirty="0">
                <a:solidFill>
                  <a:srgbClr val="CBD5E1"/>
                </a:solidFill>
                <a:latin typeface="Calibri" pitchFamily="34" charset="0"/>
                <a:ea typeface="Calibri" pitchFamily="34" charset="-122"/>
                <a:cs typeface="Calibri" pitchFamily="34" charset="-120"/>
              </a:rPr>
              <a:t>−$30,000</a:t>
            </a:r>
            <a:endParaRPr lang="en-US" sz="1600" dirty="0"/>
          </a:p>
        </p:txBody>
      </p:sp>
      <p:sp>
        <p:nvSpPr>
          <p:cNvPr id="10" name="Shape 8"/>
          <p:cNvSpPr/>
          <p:nvPr/>
        </p:nvSpPr>
        <p:spPr>
          <a:xfrm>
            <a:off x="6629400" y="2194560"/>
            <a:ext cx="274320" cy="274320"/>
          </a:xfrm>
          <a:prstGeom prst="ellipse">
            <a:avLst/>
          </a:prstGeom>
          <a:solidFill>
            <a:srgbClr val="CBD5E1"/>
          </a:solidFill>
          <a:ln/>
        </p:spPr>
      </p:sp>
      <p:sp>
        <p:nvSpPr>
          <p:cNvPr id="11" name="Text 9"/>
          <p:cNvSpPr txBox="1"/>
          <p:nvPr/>
        </p:nvSpPr>
        <p:spPr>
          <a:xfrm>
            <a:off x="6583680" y="1600200"/>
            <a:ext cx="2743200" cy="457200"/>
          </a:xfrm>
          <a:prstGeom prst="rect">
            <a:avLst/>
          </a:prstGeom>
          <a:noFill/>
          <a:ln/>
        </p:spPr>
        <p:txBody>
          <a:bodyPr wrap="square" lIns="0" tIns="0" rIns="0" bIns="0" rtlCol="0" anchor="ctr"/>
          <a:lstStyle/>
          <a:p>
            <a:pPr indent="0" marL="0">
              <a:buNone/>
            </a:pPr>
            <a:r>
              <a:rPr lang="en-US" sz="2200" b="1" dirty="0">
                <a:solidFill>
                  <a:srgbClr val="CBD5E1"/>
                </a:solidFill>
                <a:latin typeface="Calibri" pitchFamily="34" charset="0"/>
                <a:ea typeface="Calibri" pitchFamily="34" charset="-122"/>
                <a:cs typeface="Calibri" pitchFamily="34" charset="-120"/>
              </a:rPr>
              <a:t>Day 45</a:t>
            </a:r>
            <a:endParaRPr lang="en-US" sz="2200" dirty="0"/>
          </a:p>
        </p:txBody>
      </p:sp>
      <p:sp>
        <p:nvSpPr>
          <p:cNvPr id="12" name="Text 10"/>
          <p:cNvSpPr txBox="1"/>
          <p:nvPr/>
        </p:nvSpPr>
        <p:spPr>
          <a:xfrm>
            <a:off x="6583680" y="2606040"/>
            <a:ext cx="2468880" cy="68580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Sell, invoice</a:t>
            </a:r>
            <a:endParaRPr lang="en-US" sz="1600" dirty="0"/>
          </a:p>
          <a:p>
            <a:pPr indent="0" marL="0">
              <a:buNone/>
            </a:pPr>
            <a:r>
              <a:rPr lang="en-US" sz="1600" dirty="0">
                <a:solidFill>
                  <a:srgbClr val="CBD5E1"/>
                </a:solidFill>
                <a:latin typeface="Calibri" pitchFamily="34" charset="0"/>
                <a:ea typeface="Calibri" pitchFamily="34" charset="-122"/>
                <a:cs typeface="Calibri" pitchFamily="34" charset="-120"/>
              </a:rPr>
              <a:t>Net 60 terms</a:t>
            </a:r>
            <a:endParaRPr lang="en-US" sz="1600" dirty="0"/>
          </a:p>
        </p:txBody>
      </p:sp>
      <p:sp>
        <p:nvSpPr>
          <p:cNvPr id="13" name="Shape 11"/>
          <p:cNvSpPr/>
          <p:nvPr/>
        </p:nvSpPr>
        <p:spPr>
          <a:xfrm>
            <a:off x="9555480" y="2194560"/>
            <a:ext cx="274320" cy="274320"/>
          </a:xfrm>
          <a:prstGeom prst="ellipse">
            <a:avLst/>
          </a:prstGeom>
          <a:solidFill>
            <a:srgbClr val="6EE7B7"/>
          </a:solidFill>
          <a:ln/>
        </p:spPr>
      </p:sp>
      <p:sp>
        <p:nvSpPr>
          <p:cNvPr id="14" name="Text 12"/>
          <p:cNvSpPr txBox="1"/>
          <p:nvPr/>
        </p:nvSpPr>
        <p:spPr>
          <a:xfrm>
            <a:off x="9509760" y="1600200"/>
            <a:ext cx="2743200" cy="457200"/>
          </a:xfrm>
          <a:prstGeom prst="rect">
            <a:avLst/>
          </a:prstGeom>
          <a:noFill/>
          <a:ln/>
        </p:spPr>
        <p:txBody>
          <a:bodyPr wrap="square" lIns="0" tIns="0" rIns="0" bIns="0" rtlCol="0" anchor="ctr"/>
          <a:lstStyle/>
          <a:p>
            <a:pPr indent="0" marL="0">
              <a:buNone/>
            </a:pPr>
            <a:r>
              <a:rPr lang="en-US" sz="2200" b="1" dirty="0">
                <a:solidFill>
                  <a:srgbClr val="6EE7B7"/>
                </a:solidFill>
                <a:latin typeface="Calibri" pitchFamily="34" charset="0"/>
                <a:ea typeface="Calibri" pitchFamily="34" charset="-122"/>
                <a:cs typeface="Calibri" pitchFamily="34" charset="-120"/>
              </a:rPr>
              <a:t>Day 105</a:t>
            </a:r>
            <a:endParaRPr lang="en-US" sz="2200" dirty="0"/>
          </a:p>
        </p:txBody>
      </p:sp>
      <p:sp>
        <p:nvSpPr>
          <p:cNvPr id="15" name="Text 13"/>
          <p:cNvSpPr txBox="1"/>
          <p:nvPr/>
        </p:nvSpPr>
        <p:spPr>
          <a:xfrm>
            <a:off x="9509760" y="2606040"/>
            <a:ext cx="2468880" cy="68580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Customer pays</a:t>
            </a:r>
            <a:endParaRPr lang="en-US" sz="1600" dirty="0"/>
          </a:p>
          <a:p>
            <a:pPr indent="0" marL="0">
              <a:buNone/>
            </a:pPr>
            <a:r>
              <a:rPr lang="en-US" sz="1600" dirty="0">
                <a:solidFill>
                  <a:srgbClr val="CBD5E1"/>
                </a:solidFill>
                <a:latin typeface="Calibri" pitchFamily="34" charset="0"/>
                <a:ea typeface="Calibri" pitchFamily="34" charset="-122"/>
                <a:cs typeface="Calibri" pitchFamily="34" charset="-120"/>
              </a:rPr>
              <a:t>+$100,000</a:t>
            </a:r>
            <a:endParaRPr lang="en-US" sz="1600" dirty="0"/>
          </a:p>
        </p:txBody>
      </p:sp>
      <p:sp>
        <p:nvSpPr>
          <p:cNvPr id="16" name="Shape 14"/>
          <p:cNvSpPr/>
          <p:nvPr/>
        </p:nvSpPr>
        <p:spPr>
          <a:xfrm>
            <a:off x="548640" y="3429000"/>
            <a:ext cx="5394960" cy="2651760"/>
          </a:xfrm>
          <a:prstGeom prst="roundRect">
            <a:avLst>
              <a:gd name="adj" fmla="val 4138"/>
            </a:avLst>
          </a:prstGeom>
          <a:solidFill>
            <a:srgbClr val="131C2E"/>
          </a:solidFill>
          <a:ln w="9525">
            <a:solidFill>
              <a:srgbClr val="2A3654"/>
            </a:solidFill>
            <a:prstDash val="solid"/>
          </a:ln>
        </p:spPr>
      </p:sp>
      <p:sp>
        <p:nvSpPr>
          <p:cNvPr id="17" name="Text 15"/>
          <p:cNvSpPr txBox="1"/>
          <p:nvPr/>
        </p:nvSpPr>
        <p:spPr>
          <a:xfrm>
            <a:off x="868680" y="3611880"/>
            <a:ext cx="4846320" cy="1005840"/>
          </a:xfrm>
          <a:prstGeom prst="rect">
            <a:avLst/>
          </a:prstGeom>
          <a:noFill/>
          <a:ln/>
        </p:spPr>
        <p:txBody>
          <a:bodyPr wrap="square" lIns="0" tIns="0" rIns="0" bIns="0" rtlCol="0" anchor="ctr"/>
          <a:lstStyle/>
          <a:p>
            <a:pPr indent="0" marL="0">
              <a:buNone/>
            </a:pPr>
            <a:r>
              <a:rPr lang="en-US" sz="6400" b="1" dirty="0">
                <a:solidFill>
                  <a:srgbClr val="F87171"/>
                </a:solidFill>
                <a:latin typeface="Calibri" pitchFamily="34" charset="0"/>
                <a:ea typeface="Calibri" pitchFamily="34" charset="-122"/>
                <a:cs typeface="Calibri" pitchFamily="34" charset="-120"/>
              </a:rPr>
              <a:t>75 days</a:t>
            </a:r>
            <a:endParaRPr lang="en-US" sz="6400" dirty="0"/>
          </a:p>
        </p:txBody>
      </p:sp>
      <p:sp>
        <p:nvSpPr>
          <p:cNvPr id="18" name="Text 16"/>
          <p:cNvSpPr txBox="1"/>
          <p:nvPr/>
        </p:nvSpPr>
        <p:spPr>
          <a:xfrm>
            <a:off x="868680" y="4663440"/>
            <a:ext cx="4846320" cy="45720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funding gap: Cash Conversion Cycle = DIO 45 + DSO 60 − DPO 30</a:t>
            </a:r>
            <a:endParaRPr lang="en-US" sz="1600" dirty="0"/>
          </a:p>
        </p:txBody>
      </p:sp>
      <p:sp>
        <p:nvSpPr>
          <p:cNvPr id="19" name="Text 17"/>
          <p:cNvSpPr txBox="1"/>
          <p:nvPr/>
        </p:nvSpPr>
        <p:spPr>
          <a:xfrm>
            <a:off x="868680" y="5212080"/>
            <a:ext cx="484632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business is profitable. It still misses payroll on day 60.</a:t>
            </a:r>
            <a:endParaRPr lang="en-US" sz="1600" dirty="0"/>
          </a:p>
        </p:txBody>
      </p:sp>
      <p:sp>
        <p:nvSpPr>
          <p:cNvPr id="20" name="Shape 18"/>
          <p:cNvSpPr/>
          <p:nvPr/>
        </p:nvSpPr>
        <p:spPr>
          <a:xfrm>
            <a:off x="6217920" y="3429000"/>
            <a:ext cx="5394960" cy="2651760"/>
          </a:xfrm>
          <a:prstGeom prst="roundRect">
            <a:avLst>
              <a:gd name="adj" fmla="val 4138"/>
            </a:avLst>
          </a:prstGeom>
          <a:solidFill>
            <a:srgbClr val="131C2E"/>
          </a:solidFill>
          <a:ln w="9525">
            <a:solidFill>
              <a:srgbClr val="2A3654"/>
            </a:solidFill>
            <a:prstDash val="solid"/>
          </a:ln>
        </p:spPr>
      </p:sp>
      <p:sp>
        <p:nvSpPr>
          <p:cNvPr id="21" name="Text 19"/>
          <p:cNvSpPr txBox="1"/>
          <p:nvPr/>
        </p:nvSpPr>
        <p:spPr>
          <a:xfrm>
            <a:off x="6537960" y="3611880"/>
            <a:ext cx="4846320" cy="411480"/>
          </a:xfrm>
          <a:prstGeom prst="rect">
            <a:avLst/>
          </a:prstGeom>
          <a:noFill/>
          <a:ln/>
        </p:spPr>
        <p:txBody>
          <a:bodyPr wrap="square" lIns="0" tIns="0" rIns="0" bIns="0" rtlCol="0" anchor="ctr"/>
          <a:lstStyle/>
          <a:p>
            <a:pPr indent="0" marL="0">
              <a:buNone/>
            </a:pPr>
            <a:r>
              <a:rPr lang="en-US" sz="2000" b="1" dirty="0">
                <a:solidFill>
                  <a:srgbClr val="6EE7B7"/>
                </a:solidFill>
                <a:latin typeface="Calibri" pitchFamily="34" charset="0"/>
                <a:ea typeface="Calibri" pitchFamily="34" charset="-122"/>
                <a:cs typeface="Calibri" pitchFamily="34" charset="-120"/>
              </a:rPr>
              <a:t>What owners face today</a:t>
            </a:r>
            <a:endParaRPr lang="en-US" sz="2000" dirty="0"/>
          </a:p>
        </p:txBody>
      </p:sp>
      <p:sp>
        <p:nvSpPr>
          <p:cNvPr id="22" name="Text 20"/>
          <p:cNvSpPr txBox="1"/>
          <p:nvPr/>
        </p:nvSpPr>
        <p:spPr>
          <a:xfrm>
            <a:off x="6537960" y="4114800"/>
            <a:ext cx="4846320" cy="18288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CBD5E1"/>
                </a:solidFill>
                <a:latin typeface="Calibri" pitchFamily="34" charset="0"/>
                <a:ea typeface="Calibri" pitchFamily="34" charset="-122"/>
                <a:cs typeface="Calibri" pitchFamily="34" charset="-120"/>
              </a:rPr>
              <a:t>They see the gap only when a payment bounces</a:t>
            </a:r>
            <a:endParaRPr lang="en-US" sz="1600" dirty="0"/>
          </a:p>
          <a:p>
            <a:pPr marL="342900" indent="-342900">
              <a:spcAft>
                <a:spcPts val="600"/>
              </a:spcAft>
              <a:buSzPct val="100000"/>
              <a:buChar char="•"/>
            </a:pPr>
            <a:r>
              <a:rPr lang="en-US" sz="1600" dirty="0">
                <a:solidFill>
                  <a:srgbClr val="CBD5E1"/>
                </a:solidFill>
                <a:latin typeface="Calibri" pitchFamily="34" charset="0"/>
                <a:ea typeface="Calibri" pitchFamily="34" charset="-122"/>
                <a:cs typeface="Calibri" pitchFamily="34" charset="-120"/>
              </a:rPr>
              <a:t>Bank underwriting takes weeks and asks for collateral</a:t>
            </a:r>
            <a:endParaRPr lang="en-US" sz="1600" dirty="0"/>
          </a:p>
          <a:p>
            <a:pPr marL="342900" indent="-342900">
              <a:spcAft>
                <a:spcPts val="600"/>
              </a:spcAft>
              <a:buSzPct val="100000"/>
              <a:buChar char="•"/>
            </a:pPr>
            <a:r>
              <a:rPr lang="en-US" sz="1600" dirty="0">
                <a:solidFill>
                  <a:srgbClr val="CBD5E1"/>
                </a:solidFill>
                <a:latin typeface="Calibri" pitchFamily="34" charset="0"/>
                <a:ea typeface="Calibri" pitchFamily="34" charset="-122"/>
                <a:cs typeface="Calibri" pitchFamily="34" charset="-120"/>
              </a:rPr>
              <a:t>Fast lenders quote factor rates: 1.35 over 6 months is really 71% APR</a:t>
            </a:r>
            <a:endParaRPr lang="en-US" sz="1600" dirty="0"/>
          </a:p>
          <a:p>
            <a:pPr marL="342900" indent="-342900">
              <a:spcAft>
                <a:spcPts val="600"/>
              </a:spcAft>
              <a:buSzPct val="100000"/>
              <a:buChar char="•"/>
            </a:pPr>
            <a:r>
              <a:rPr lang="en-US" sz="1600" dirty="0">
                <a:solidFill>
                  <a:srgbClr val="CBD5E1"/>
                </a:solidFill>
                <a:latin typeface="Calibri" pitchFamily="34" charset="0"/>
                <a:ea typeface="Calibri" pitchFamily="34" charset="-122"/>
                <a:cs typeface="Calibri" pitchFamily="34" charset="-120"/>
              </a:rPr>
              <a:t>Generic AI chatbots guess numbers and cannot be trusted with money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CashPilot covers all three Topic E capabilities</a:t>
            </a:r>
            <a:endParaRPr lang="en-US" sz="3200" dirty="0"/>
          </a:p>
        </p:txBody>
      </p:sp>
      <p:sp>
        <p:nvSpPr>
          <p:cNvPr id="3" name="Shape 1"/>
          <p:cNvSpPr/>
          <p:nvPr/>
        </p:nvSpPr>
        <p:spPr>
          <a:xfrm>
            <a:off x="548640" y="1463040"/>
            <a:ext cx="3520440" cy="4480560"/>
          </a:xfrm>
          <a:prstGeom prst="roundRect">
            <a:avLst>
              <a:gd name="adj" fmla="val 3117"/>
            </a:avLst>
          </a:prstGeom>
          <a:solidFill>
            <a:srgbClr val="131C2E"/>
          </a:solidFill>
          <a:ln w="9525">
            <a:solidFill>
              <a:srgbClr val="2A3654"/>
            </a:solidFill>
            <a:prstDash val="solid"/>
          </a:ln>
        </p:spPr>
      </p:sp>
      <p:sp>
        <p:nvSpPr>
          <p:cNvPr id="4" name="Shape 2"/>
          <p:cNvSpPr/>
          <p:nvPr/>
        </p:nvSpPr>
        <p:spPr>
          <a:xfrm>
            <a:off x="868680" y="1737360"/>
            <a:ext cx="457200" cy="457200"/>
          </a:xfrm>
          <a:prstGeom prst="ellipse">
            <a:avLst/>
          </a:prstGeom>
          <a:solidFill>
            <a:srgbClr val="6EE7B7"/>
          </a:solidFill>
          <a:ln/>
        </p:spPr>
      </p:sp>
      <p:sp>
        <p:nvSpPr>
          <p:cNvPr id="5" name="Text 3"/>
          <p:cNvSpPr txBox="1"/>
          <p:nvPr/>
        </p:nvSpPr>
        <p:spPr>
          <a:xfrm>
            <a:off x="868680" y="1737360"/>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868680" y="2377440"/>
            <a:ext cx="2926080" cy="8229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Cash-flow management with alerts</a:t>
            </a:r>
            <a:endParaRPr lang="en-US" sz="2000" dirty="0"/>
          </a:p>
        </p:txBody>
      </p:sp>
      <p:sp>
        <p:nvSpPr>
          <p:cNvPr id="7" name="Text 5"/>
          <p:cNvSpPr txBox="1"/>
          <p:nvPr/>
        </p:nvSpPr>
        <p:spPr>
          <a:xfrm>
            <a:off x="868680" y="3246120"/>
            <a:ext cx="2926080" cy="201168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Upload CSV or PDF statements. Get balance, burn, runway, daily average balance and the exact date cash goes negative, with a 30/60/90-day forecast.</a:t>
            </a:r>
            <a:endParaRPr lang="en-US" sz="1500" dirty="0"/>
          </a:p>
        </p:txBody>
      </p:sp>
      <p:sp>
        <p:nvSpPr>
          <p:cNvPr id="8" name="Text 6"/>
          <p:cNvSpPr txBox="1"/>
          <p:nvPr/>
        </p:nvSpPr>
        <p:spPr>
          <a:xfrm>
            <a:off x="868680" y="5394960"/>
            <a:ext cx="2926080" cy="320040"/>
          </a:xfrm>
          <a:prstGeom prst="rect">
            <a:avLst/>
          </a:prstGeom>
          <a:noFill/>
          <a:ln/>
        </p:spPr>
        <p:txBody>
          <a:bodyPr wrap="square" lIns="0" tIns="0" rIns="0" bIns="0" rtlCol="0" anchor="ctr"/>
          <a:lstStyle/>
          <a:p>
            <a:pPr indent="0" marL="0">
              <a:buNone/>
            </a:pPr>
            <a:r>
              <a:rPr lang="en-US" sz="1200" dirty="0">
                <a:solidFill>
                  <a:srgbClr val="6EE7B7"/>
                </a:solidFill>
                <a:latin typeface="Courier New" pitchFamily="34" charset="0"/>
                <a:ea typeface="Courier New" pitchFamily="34" charset="-122"/>
                <a:cs typeface="Courier New" pitchFamily="34" charset="-120"/>
              </a:rPr>
              <a:t>POST /api/v1/analyze</a:t>
            </a:r>
            <a:endParaRPr lang="en-US" sz="1200" dirty="0"/>
          </a:p>
        </p:txBody>
      </p:sp>
      <p:sp>
        <p:nvSpPr>
          <p:cNvPr id="9" name="Shape 7"/>
          <p:cNvSpPr/>
          <p:nvPr/>
        </p:nvSpPr>
        <p:spPr>
          <a:xfrm>
            <a:off x="4297680" y="1463040"/>
            <a:ext cx="3520440" cy="4480560"/>
          </a:xfrm>
          <a:prstGeom prst="roundRect">
            <a:avLst>
              <a:gd name="adj" fmla="val 3117"/>
            </a:avLst>
          </a:prstGeom>
          <a:solidFill>
            <a:srgbClr val="131C2E"/>
          </a:solidFill>
          <a:ln w="9525">
            <a:solidFill>
              <a:srgbClr val="2A3654"/>
            </a:solidFill>
            <a:prstDash val="solid"/>
          </a:ln>
        </p:spPr>
      </p:sp>
      <p:sp>
        <p:nvSpPr>
          <p:cNvPr id="10" name="Shape 8"/>
          <p:cNvSpPr/>
          <p:nvPr/>
        </p:nvSpPr>
        <p:spPr>
          <a:xfrm>
            <a:off x="4617720" y="1737360"/>
            <a:ext cx="457200" cy="457200"/>
          </a:xfrm>
          <a:prstGeom prst="ellipse">
            <a:avLst/>
          </a:prstGeom>
          <a:solidFill>
            <a:srgbClr val="6EE7B7"/>
          </a:solidFill>
          <a:ln/>
        </p:spPr>
      </p:sp>
      <p:sp>
        <p:nvSpPr>
          <p:cNvPr id="11" name="Text 9"/>
          <p:cNvSpPr txBox="1"/>
          <p:nvPr/>
        </p:nvSpPr>
        <p:spPr>
          <a:xfrm>
            <a:off x="4617720" y="1737360"/>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617720" y="2377440"/>
            <a:ext cx="2926080" cy="8229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Financing-option matching</a:t>
            </a:r>
            <a:endParaRPr lang="en-US" sz="2000" dirty="0"/>
          </a:p>
        </p:txBody>
      </p:sp>
      <p:sp>
        <p:nvSpPr>
          <p:cNvPr id="13" name="Text 11"/>
          <p:cNvSpPr txBox="1"/>
          <p:nvPr/>
        </p:nvSpPr>
        <p:spPr>
          <a:xfrm>
            <a:off x="4617720" y="3246120"/>
            <a:ext cx="2926080" cy="201168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0–100 liquidity score from transaction behaviour, no collateral needed. Offers ranked by true APR; anything above 36% APR is flagged predatory.</a:t>
            </a:r>
            <a:endParaRPr lang="en-US" sz="1500" dirty="0"/>
          </a:p>
        </p:txBody>
      </p:sp>
      <p:sp>
        <p:nvSpPr>
          <p:cNvPr id="14" name="Text 12"/>
          <p:cNvSpPr txBox="1"/>
          <p:nvPr/>
        </p:nvSpPr>
        <p:spPr>
          <a:xfrm>
            <a:off x="4617720" y="5394960"/>
            <a:ext cx="2926080" cy="320040"/>
          </a:xfrm>
          <a:prstGeom prst="rect">
            <a:avLst/>
          </a:prstGeom>
          <a:noFill/>
          <a:ln/>
        </p:spPr>
        <p:txBody>
          <a:bodyPr wrap="square" lIns="0" tIns="0" rIns="0" bIns="0" rtlCol="0" anchor="ctr"/>
          <a:lstStyle/>
          <a:p>
            <a:pPr indent="0" marL="0">
              <a:buNone/>
            </a:pPr>
            <a:r>
              <a:rPr lang="en-US" sz="1200" dirty="0">
                <a:solidFill>
                  <a:srgbClr val="6EE7B7"/>
                </a:solidFill>
                <a:latin typeface="Courier New" pitchFamily="34" charset="0"/>
                <a:ea typeface="Courier New" pitchFamily="34" charset="-122"/>
                <a:cs typeface="Courier New" pitchFamily="34" charset="-120"/>
              </a:rPr>
              <a:t>POST /api/v1/underwrite</a:t>
            </a:r>
            <a:endParaRPr lang="en-US" sz="1200" dirty="0"/>
          </a:p>
        </p:txBody>
      </p:sp>
      <p:sp>
        <p:nvSpPr>
          <p:cNvPr id="15" name="Shape 13"/>
          <p:cNvSpPr/>
          <p:nvPr/>
        </p:nvSpPr>
        <p:spPr>
          <a:xfrm>
            <a:off x="8046720" y="1463040"/>
            <a:ext cx="3520440" cy="4480560"/>
          </a:xfrm>
          <a:prstGeom prst="roundRect">
            <a:avLst>
              <a:gd name="adj" fmla="val 3117"/>
            </a:avLst>
          </a:prstGeom>
          <a:solidFill>
            <a:srgbClr val="131C2E"/>
          </a:solidFill>
          <a:ln w="9525">
            <a:solidFill>
              <a:srgbClr val="2A3654"/>
            </a:solidFill>
            <a:prstDash val="solid"/>
          </a:ln>
        </p:spPr>
      </p:sp>
      <p:sp>
        <p:nvSpPr>
          <p:cNvPr id="16" name="Shape 14"/>
          <p:cNvSpPr/>
          <p:nvPr/>
        </p:nvSpPr>
        <p:spPr>
          <a:xfrm>
            <a:off x="8366760" y="1737360"/>
            <a:ext cx="457200" cy="457200"/>
          </a:xfrm>
          <a:prstGeom prst="ellipse">
            <a:avLst/>
          </a:prstGeom>
          <a:solidFill>
            <a:srgbClr val="6EE7B7"/>
          </a:solidFill>
          <a:ln/>
        </p:spPr>
      </p:sp>
      <p:sp>
        <p:nvSpPr>
          <p:cNvPr id="17" name="Text 15"/>
          <p:cNvSpPr txBox="1"/>
          <p:nvPr/>
        </p:nvSpPr>
        <p:spPr>
          <a:xfrm>
            <a:off x="8366760" y="1737360"/>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366760" y="2377440"/>
            <a:ext cx="2926080" cy="8229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Business financial analysis</a:t>
            </a:r>
            <a:endParaRPr lang="en-US" sz="2000" dirty="0"/>
          </a:p>
        </p:txBody>
      </p:sp>
      <p:sp>
        <p:nvSpPr>
          <p:cNvPr id="19" name="Text 17"/>
          <p:cNvSpPr txBox="1"/>
          <p:nvPr/>
        </p:nvSpPr>
        <p:spPr>
          <a:xfrm>
            <a:off x="8366760" y="3246120"/>
            <a:ext cx="2926080" cy="201168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25 Decimal engines: CCC, DSCR, FCCR, Altman Z′, DuPont ROE, ROIC/EVA, DCF/WACC, receivables ageing, client concentration.</a:t>
            </a:r>
            <a:endParaRPr lang="en-US" sz="1500" dirty="0"/>
          </a:p>
        </p:txBody>
      </p:sp>
      <p:sp>
        <p:nvSpPr>
          <p:cNvPr id="20" name="Text 18"/>
          <p:cNvSpPr txBox="1"/>
          <p:nvPr/>
        </p:nvSpPr>
        <p:spPr>
          <a:xfrm>
            <a:off x="8366760" y="5394960"/>
            <a:ext cx="2926080" cy="320040"/>
          </a:xfrm>
          <a:prstGeom prst="rect">
            <a:avLst/>
          </a:prstGeom>
          <a:noFill/>
          <a:ln/>
        </p:spPr>
        <p:txBody>
          <a:bodyPr wrap="square" lIns="0" tIns="0" rIns="0" bIns="0" rtlCol="0" anchor="ctr"/>
          <a:lstStyle/>
          <a:p>
            <a:pPr indent="0" marL="0">
              <a:buNone/>
            </a:pPr>
            <a:r>
              <a:rPr lang="en-US" sz="1200" dirty="0">
                <a:solidFill>
                  <a:srgbClr val="6EE7B7"/>
                </a:solidFill>
                <a:latin typeface="Courier New" pitchFamily="34" charset="0"/>
                <a:ea typeface="Courier New" pitchFamily="34" charset="-122"/>
                <a:cs typeface="Courier New" pitchFamily="34" charset="-120"/>
              </a:rPr>
              <a:t>services/calculations/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owner sees the shortfall date, the gap, and a drafted fix</a:t>
            </a:r>
            <a:endParaRPr lang="en-US" sz="3200" dirty="0"/>
          </a:p>
        </p:txBody>
      </p:sp>
      <p:sp>
        <p:nvSpPr>
          <p:cNvPr id="3" name="Shape 1"/>
          <p:cNvSpPr/>
          <p:nvPr/>
        </p:nvSpPr>
        <p:spPr>
          <a:xfrm>
            <a:off x="502920" y="1325880"/>
            <a:ext cx="7040880" cy="4434840"/>
          </a:xfrm>
          <a:prstGeom prst="roundRect">
            <a:avLst>
              <a:gd name="adj" fmla="val 1649"/>
            </a:avLst>
          </a:prstGeom>
          <a:solidFill>
            <a:srgbClr val="2A3654"/>
          </a:solidFill>
          <a:ln w="12700">
            <a:solidFill>
              <a:srgbClr val="2A3654"/>
            </a:solidFill>
            <a:prstDash val="solid"/>
          </a:ln>
        </p:spPr>
      </p:sp>
      <p:pic>
        <p:nvPicPr>
          <p:cNvPr id="4" name="Image 0" descr="F:\SME Finance Copilot\submission\03-demo-video\screenshots\02-overview-forecast.png">    </p:cNvPr>
          <p:cNvPicPr>
            <a:picLocks noChangeAspect="1"/>
          </p:cNvPicPr>
          <p:nvPr/>
        </p:nvPicPr>
        <p:blipFill>
          <a:blip r:embed="rId1"/>
          <a:stretch>
            <a:fillRect/>
          </a:stretch>
        </p:blipFill>
        <p:spPr>
          <a:xfrm>
            <a:off x="548640" y="1371600"/>
            <a:ext cx="6949440" cy="4343400"/>
          </a:xfrm>
          <a:prstGeom prst="rect">
            <a:avLst/>
          </a:prstGeom>
        </p:spPr>
      </p:pic>
      <p:sp>
        <p:nvSpPr>
          <p:cNvPr id="5" name="Text 2"/>
          <p:cNvSpPr txBox="1"/>
          <p:nvPr/>
        </p:nvSpPr>
        <p:spPr>
          <a:xfrm>
            <a:off x="7909560" y="1463040"/>
            <a:ext cx="3749040" cy="822960"/>
          </a:xfrm>
          <a:prstGeom prst="rect">
            <a:avLst/>
          </a:prstGeom>
          <a:noFill/>
          <a:ln/>
        </p:spPr>
        <p:txBody>
          <a:bodyPr wrap="square" lIns="0" tIns="0" rIns="0" bIns="0" rtlCol="0" anchor="ctr"/>
          <a:lstStyle/>
          <a:p>
            <a:pPr indent="0" marL="0">
              <a:buNone/>
            </a:pPr>
            <a:r>
              <a:rPr lang="en-US" sz="2400" b="1" dirty="0">
                <a:solidFill>
                  <a:srgbClr val="F87171"/>
                </a:solidFill>
                <a:latin typeface="Calibri" pitchFamily="34" charset="0"/>
                <a:ea typeface="Calibri" pitchFamily="34" charset="-122"/>
                <a:cs typeface="Calibri" pitchFamily="34" charset="-120"/>
              </a:rPr>
              <a:t>Cash runs short on Oct 28</a:t>
            </a:r>
            <a:endParaRPr lang="en-US" sz="2400" dirty="0"/>
          </a:p>
        </p:txBody>
      </p:sp>
      <p:sp>
        <p:nvSpPr>
          <p:cNvPr id="6" name="Text 3"/>
          <p:cNvSpPr txBox="1"/>
          <p:nvPr/>
        </p:nvSpPr>
        <p:spPr>
          <a:xfrm>
            <a:off x="7909560" y="2377440"/>
            <a:ext cx="374904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CBD5E1"/>
                </a:solidFill>
                <a:latin typeface="Calibri" pitchFamily="34" charset="0"/>
                <a:ea typeface="Calibri" pitchFamily="34" charset="-122"/>
                <a:cs typeface="Calibri" pitchFamily="34" charset="-120"/>
              </a:rPr>
              <a:t>Payroll of $18,400 takes the balance $5,866.76 below zero, 9 days out</a:t>
            </a:r>
            <a:endParaRPr lang="en-US" sz="1600" dirty="0"/>
          </a:p>
          <a:p>
            <a:pPr marL="342900" indent="-342900">
              <a:spcAft>
                <a:spcPts val="800"/>
              </a:spcAft>
              <a:buSzPct val="100000"/>
              <a:buChar char="•"/>
            </a:pPr>
            <a:r>
              <a:rPr lang="en-US" sz="1600" dirty="0">
                <a:solidFill>
                  <a:srgbClr val="CBD5E1"/>
                </a:solidFill>
                <a:latin typeface="Calibri" pitchFamily="34" charset="0"/>
                <a:ea typeface="Calibri" pitchFamily="34" charset="-122"/>
                <a:cs typeface="Calibri" pitchFamily="34" charset="-120"/>
              </a:rPr>
              <a:t>Forecast by account over 30 / 60 / 90 days</a:t>
            </a:r>
            <a:endParaRPr lang="en-US" sz="1600" dirty="0"/>
          </a:p>
          <a:p>
            <a:pPr marL="342900" indent="-342900">
              <a:spcAft>
                <a:spcPts val="800"/>
              </a:spcAft>
              <a:buSzPct val="100000"/>
              <a:buChar char="•"/>
            </a:pPr>
            <a:r>
              <a:rPr lang="en-US" sz="1600" dirty="0">
                <a:solidFill>
                  <a:srgbClr val="CBD5E1"/>
                </a:solidFill>
                <a:latin typeface="Calibri" pitchFamily="34" charset="0"/>
                <a:ea typeface="Calibri" pitchFamily="34" charset="-122"/>
                <a:cs typeface="Calibri" pitchFamily="34" charset="-120"/>
              </a:rPr>
              <a:t>Transfers between the owner's own accounts are excluded from burn</a:t>
            </a:r>
            <a:endParaRPr lang="en-US" sz="1600" dirty="0"/>
          </a:p>
          <a:p>
            <a:pPr marL="342900" indent="-342900">
              <a:spcAft>
                <a:spcPts val="800"/>
              </a:spcAft>
              <a:buSzPct val="100000"/>
              <a:buChar char="•"/>
            </a:pPr>
            <a:r>
              <a:rPr lang="en-US" sz="1600" dirty="0">
                <a:solidFill>
                  <a:srgbClr val="CBD5E1"/>
                </a:solidFill>
                <a:latin typeface="Calibri" pitchFamily="34" charset="0"/>
                <a:ea typeface="Calibri" pitchFamily="34" charset="-122"/>
                <a:cs typeface="Calibri" pitchFamily="34" charset="-120"/>
              </a:rPr>
              <a:t>One click to the drafted $7,500 draw: shortfall plus a 20% margin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Financing ranked by true cost, predatory offers flagged</a:t>
            </a:r>
            <a:endParaRPr lang="en-US" sz="3200" dirty="0"/>
          </a:p>
        </p:txBody>
      </p:sp>
      <p:sp>
        <p:nvSpPr>
          <p:cNvPr id="3" name="Shape 1"/>
          <p:cNvSpPr/>
          <p:nvPr/>
        </p:nvSpPr>
        <p:spPr>
          <a:xfrm>
            <a:off x="502920" y="1325880"/>
            <a:ext cx="7040880" cy="4434840"/>
          </a:xfrm>
          <a:prstGeom prst="roundRect">
            <a:avLst>
              <a:gd name="adj" fmla="val 1649"/>
            </a:avLst>
          </a:prstGeom>
          <a:solidFill>
            <a:srgbClr val="2A3654"/>
          </a:solidFill>
          <a:ln w="12700">
            <a:solidFill>
              <a:srgbClr val="2A3654"/>
            </a:solidFill>
            <a:prstDash val="solid"/>
          </a:ln>
        </p:spPr>
      </p:sp>
      <p:pic>
        <p:nvPicPr>
          <p:cNvPr id="4" name="Image 0" descr="F:\SME Finance Copilot\submission\03-demo-video\screenshots\04-funding.png">    </p:cNvPr>
          <p:cNvPicPr>
            <a:picLocks noChangeAspect="1"/>
          </p:cNvPicPr>
          <p:nvPr/>
        </p:nvPicPr>
        <p:blipFill>
          <a:blip r:embed="rId1"/>
          <a:stretch>
            <a:fillRect/>
          </a:stretch>
        </p:blipFill>
        <p:spPr>
          <a:xfrm>
            <a:off x="548640" y="1371600"/>
            <a:ext cx="6949440" cy="4343400"/>
          </a:xfrm>
          <a:prstGeom prst="rect">
            <a:avLst/>
          </a:prstGeom>
        </p:spPr>
      </p:pic>
      <p:sp>
        <p:nvSpPr>
          <p:cNvPr id="5" name="Text 2"/>
          <p:cNvSpPr txBox="1"/>
          <p:nvPr/>
        </p:nvSpPr>
        <p:spPr>
          <a:xfrm>
            <a:off x="7909560" y="1463040"/>
            <a:ext cx="3749040" cy="822960"/>
          </a:xfrm>
          <a:prstGeom prst="rect">
            <a:avLst/>
          </a:prstGeom>
          <a:noFill/>
          <a:ln/>
        </p:spPr>
        <p:txBody>
          <a:bodyPr wrap="square" lIns="0" tIns="0" rIns="0" bIns="0" rtlCol="0" anchor="ctr"/>
          <a:lstStyle/>
          <a:p>
            <a:pPr indent="0" marL="0">
              <a:buNone/>
            </a:pPr>
            <a:r>
              <a:rPr lang="en-US" sz="2400" b="1" dirty="0">
                <a:solidFill>
                  <a:srgbClr val="6EE7B7"/>
                </a:solidFill>
                <a:latin typeface="Calibri" pitchFamily="34" charset="0"/>
                <a:ea typeface="Calibri" pitchFamily="34" charset="-122"/>
                <a:cs typeface="Calibri" pitchFamily="34" charset="-120"/>
              </a:rPr>
              <a:t>True APR, not factor rates</a:t>
            </a:r>
            <a:endParaRPr lang="en-US" sz="2400" dirty="0"/>
          </a:p>
        </p:txBody>
      </p:sp>
      <p:sp>
        <p:nvSpPr>
          <p:cNvPr id="6" name="Text 3"/>
          <p:cNvSpPr txBox="1"/>
          <p:nvPr/>
        </p:nvSpPr>
        <p:spPr>
          <a:xfrm>
            <a:off x="7909560" y="2377440"/>
            <a:ext cx="374904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CBD5E1"/>
                </a:solidFill>
                <a:latin typeface="Calibri" pitchFamily="34" charset="0"/>
                <a:ea typeface="Calibri" pitchFamily="34" charset="-122"/>
                <a:cs typeface="Calibri" pitchFamily="34" charset="-120"/>
              </a:rPr>
              <a:t>Liquidity score 61/100 (near prime) from balance, income steadiness and bounced payments</a:t>
            </a:r>
            <a:endParaRPr lang="en-US" sz="1600" dirty="0"/>
          </a:p>
          <a:p>
            <a:pPr marL="342900" indent="-342900">
              <a:spcAft>
                <a:spcPts val="800"/>
              </a:spcAft>
              <a:buSzPct val="100000"/>
              <a:buChar char="•"/>
            </a:pPr>
            <a:r>
              <a:rPr lang="en-US" sz="1600" dirty="0">
                <a:solidFill>
                  <a:srgbClr val="CBD5E1"/>
                </a:solidFill>
                <a:latin typeface="Calibri" pitchFamily="34" charset="0"/>
                <a:ea typeface="Calibri" pitchFamily="34" charset="-122"/>
                <a:cs typeface="Calibri" pitchFamily="34" charset="-120"/>
              </a:rPr>
              <a:t>Bank line 11.9% · factoring 18.4% · revenue-based 27.5%</a:t>
            </a:r>
            <a:endParaRPr lang="en-US" sz="1600" dirty="0"/>
          </a:p>
          <a:p>
            <a:pPr marL="342900" indent="-342900">
              <a:spcAft>
                <a:spcPts val="800"/>
              </a:spcAft>
              <a:buSzPct val="100000"/>
              <a:buChar char="•"/>
            </a:pPr>
            <a:r>
              <a:rPr lang="en-US" sz="1600" dirty="0">
                <a:solidFill>
                  <a:srgbClr val="CBD5E1"/>
                </a:solidFill>
                <a:latin typeface="Calibri" pitchFamily="34" charset="0"/>
                <a:ea typeface="Calibri" pitchFamily="34" charset="-122"/>
                <a:cs typeface="Calibri" pitchFamily="34" charset="-120"/>
              </a:rPr>
              <a:t>A "factor rate 1.35" advance is really 71.2% APR, so it is flagged predatory</a:t>
            </a:r>
            <a:endParaRPr lang="en-US" sz="1600" dirty="0"/>
          </a:p>
          <a:p>
            <a:pPr marL="342900" indent="-342900">
              <a:spcAft>
                <a:spcPts val="800"/>
              </a:spcAft>
              <a:buSzPct val="100000"/>
              <a:buChar char="•"/>
            </a:pPr>
            <a:r>
              <a:rPr lang="en-US" sz="1600" dirty="0">
                <a:solidFill>
                  <a:srgbClr val="CBD5E1"/>
                </a:solidFill>
                <a:latin typeface="Calibri" pitchFamily="34" charset="0"/>
                <a:ea typeface="Calibri" pitchFamily="34" charset="-122"/>
                <a:cs typeface="Calibri" pitchFamily="34" charset="-120"/>
              </a:rPr>
              <a:t>Dollar cost to borrow $7,500 for 60 days, side by side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AI explains and drafts; deterministic code does the maths</a:t>
            </a:r>
            <a:endParaRPr lang="en-US" sz="3200" dirty="0"/>
          </a:p>
        </p:txBody>
      </p:sp>
      <p:sp>
        <p:nvSpPr>
          <p:cNvPr id="3" name="Shape 1"/>
          <p:cNvSpPr/>
          <p:nvPr/>
        </p:nvSpPr>
        <p:spPr>
          <a:xfrm>
            <a:off x="548640" y="1463040"/>
            <a:ext cx="1709928" cy="1737360"/>
          </a:xfrm>
          <a:prstGeom prst="roundRect">
            <a:avLst>
              <a:gd name="adj" fmla="val 6417"/>
            </a:avLst>
          </a:prstGeom>
          <a:solidFill>
            <a:srgbClr val="131C2E"/>
          </a:solidFill>
          <a:ln w="9525">
            <a:solidFill>
              <a:srgbClr val="2A3654"/>
            </a:solidFill>
            <a:prstDash val="solid"/>
          </a:ln>
        </p:spPr>
      </p:sp>
      <p:sp>
        <p:nvSpPr>
          <p:cNvPr id="4" name="Text 2"/>
          <p:cNvSpPr txBox="1"/>
          <p:nvPr/>
        </p:nvSpPr>
        <p:spPr>
          <a:xfrm>
            <a:off x="685800" y="1600200"/>
            <a:ext cx="14630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Guardrails</a:t>
            </a:r>
            <a:endParaRPr lang="en-US" sz="1500" dirty="0"/>
          </a:p>
        </p:txBody>
      </p:sp>
      <p:sp>
        <p:nvSpPr>
          <p:cNvPr id="5" name="Text 3"/>
          <p:cNvSpPr txBox="1"/>
          <p:nvPr/>
        </p:nvSpPr>
        <p:spPr>
          <a:xfrm>
            <a:off x="685800" y="2194560"/>
            <a:ext cx="1463040" cy="9144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Injection and pasted-key checks run first</a:t>
            </a:r>
            <a:endParaRPr lang="en-US" sz="1200" dirty="0"/>
          </a:p>
        </p:txBody>
      </p:sp>
      <p:sp>
        <p:nvSpPr>
          <p:cNvPr id="6" name="Text 4"/>
          <p:cNvSpPr txBox="1"/>
          <p:nvPr/>
        </p:nvSpPr>
        <p:spPr>
          <a:xfrm>
            <a:off x="2240280" y="2011680"/>
            <a:ext cx="228600" cy="457200"/>
          </a:xfrm>
          <a:prstGeom prst="rect">
            <a:avLst/>
          </a:prstGeom>
          <a:noFill/>
          <a:ln/>
        </p:spPr>
        <p:txBody>
          <a:bodyPr wrap="square" lIns="0" tIns="0" rIns="0" bIns="0" rtlCol="0" anchor="ctr"/>
          <a:lstStyle/>
          <a:p>
            <a:pPr algn="ctr" indent="0" marL="0">
              <a:buNone/>
            </a:pPr>
            <a:r>
              <a:rPr lang="en-US" sz="2200" dirty="0">
                <a:solidFill>
                  <a:srgbClr val="6EE7B7"/>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441448" y="1463040"/>
            <a:ext cx="1709928" cy="1737360"/>
          </a:xfrm>
          <a:prstGeom prst="roundRect">
            <a:avLst>
              <a:gd name="adj" fmla="val 6417"/>
            </a:avLst>
          </a:prstGeom>
          <a:solidFill>
            <a:srgbClr val="131C2E"/>
          </a:solidFill>
          <a:ln w="9525">
            <a:solidFill>
              <a:srgbClr val="2A3654"/>
            </a:solidFill>
            <a:prstDash val="solid"/>
          </a:ln>
        </p:spPr>
      </p:sp>
      <p:sp>
        <p:nvSpPr>
          <p:cNvPr id="8" name="Text 6"/>
          <p:cNvSpPr txBox="1"/>
          <p:nvPr/>
        </p:nvSpPr>
        <p:spPr>
          <a:xfrm>
            <a:off x="2578608" y="1600200"/>
            <a:ext cx="14630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Intent router</a:t>
            </a:r>
            <a:endParaRPr lang="en-US" sz="1500" dirty="0"/>
          </a:p>
        </p:txBody>
      </p:sp>
      <p:sp>
        <p:nvSpPr>
          <p:cNvPr id="9" name="Text 7"/>
          <p:cNvSpPr txBox="1"/>
          <p:nvPr/>
        </p:nvSpPr>
        <p:spPr>
          <a:xfrm>
            <a:off x="2578608" y="2194560"/>
            <a:ext cx="1463040" cy="9144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FastEmbed bge-small embeddings</a:t>
            </a:r>
            <a:endParaRPr lang="en-US" sz="1200" dirty="0"/>
          </a:p>
        </p:txBody>
      </p:sp>
      <p:sp>
        <p:nvSpPr>
          <p:cNvPr id="10" name="Text 8"/>
          <p:cNvSpPr txBox="1"/>
          <p:nvPr/>
        </p:nvSpPr>
        <p:spPr>
          <a:xfrm>
            <a:off x="4133088" y="2011680"/>
            <a:ext cx="228600" cy="457200"/>
          </a:xfrm>
          <a:prstGeom prst="rect">
            <a:avLst/>
          </a:prstGeom>
          <a:noFill/>
          <a:ln/>
        </p:spPr>
        <p:txBody>
          <a:bodyPr wrap="square" lIns="0" tIns="0" rIns="0" bIns="0" rtlCol="0" anchor="ctr"/>
          <a:lstStyle/>
          <a:p>
            <a:pPr algn="ctr" indent="0" marL="0">
              <a:buNone/>
            </a:pPr>
            <a:r>
              <a:rPr lang="en-US" sz="2200" dirty="0">
                <a:solidFill>
                  <a:srgbClr val="6EE7B7"/>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4334256" y="1463040"/>
            <a:ext cx="1709928" cy="1737360"/>
          </a:xfrm>
          <a:prstGeom prst="roundRect">
            <a:avLst>
              <a:gd name="adj" fmla="val 6417"/>
            </a:avLst>
          </a:prstGeom>
          <a:solidFill>
            <a:srgbClr val="131C2E"/>
          </a:solidFill>
          <a:ln w="9525">
            <a:solidFill>
              <a:srgbClr val="2A3654"/>
            </a:solidFill>
            <a:prstDash val="solid"/>
          </a:ln>
        </p:spPr>
      </p:sp>
      <p:sp>
        <p:nvSpPr>
          <p:cNvPr id="12" name="Text 10"/>
          <p:cNvSpPr txBox="1"/>
          <p:nvPr/>
        </p:nvSpPr>
        <p:spPr>
          <a:xfrm>
            <a:off x="4471416" y="1600200"/>
            <a:ext cx="14630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Subagents</a:t>
            </a:r>
            <a:endParaRPr lang="en-US" sz="1500" dirty="0"/>
          </a:p>
        </p:txBody>
      </p:sp>
      <p:sp>
        <p:nvSpPr>
          <p:cNvPr id="13" name="Text 11"/>
          <p:cNvSpPr txBox="1"/>
          <p:nvPr/>
        </p:nvSpPr>
        <p:spPr>
          <a:xfrm>
            <a:off x="4471416" y="2194560"/>
            <a:ext cx="1463040" cy="9144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Liquidity · Credit · Risk</a:t>
            </a:r>
            <a:endParaRPr lang="en-US" sz="1200" dirty="0"/>
          </a:p>
        </p:txBody>
      </p:sp>
      <p:sp>
        <p:nvSpPr>
          <p:cNvPr id="14" name="Text 12"/>
          <p:cNvSpPr txBox="1"/>
          <p:nvPr/>
        </p:nvSpPr>
        <p:spPr>
          <a:xfrm>
            <a:off x="6025896" y="2011680"/>
            <a:ext cx="228600" cy="457200"/>
          </a:xfrm>
          <a:prstGeom prst="rect">
            <a:avLst/>
          </a:prstGeom>
          <a:noFill/>
          <a:ln/>
        </p:spPr>
        <p:txBody>
          <a:bodyPr wrap="square" lIns="0" tIns="0" rIns="0" bIns="0" rtlCol="0" anchor="ctr"/>
          <a:lstStyle/>
          <a:p>
            <a:pPr algn="ctr" indent="0" marL="0">
              <a:buNone/>
            </a:pPr>
            <a:r>
              <a:rPr lang="en-US" sz="2200" dirty="0">
                <a:solidFill>
                  <a:srgbClr val="6EE7B7"/>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227064" y="1463040"/>
            <a:ext cx="1709928" cy="1737360"/>
          </a:xfrm>
          <a:prstGeom prst="roundRect">
            <a:avLst>
              <a:gd name="adj" fmla="val 6417"/>
            </a:avLst>
          </a:prstGeom>
          <a:solidFill>
            <a:srgbClr val="1A2540"/>
          </a:solidFill>
          <a:ln w="9525">
            <a:solidFill>
              <a:srgbClr val="2A3654"/>
            </a:solidFill>
            <a:prstDash val="solid"/>
          </a:ln>
        </p:spPr>
      </p:sp>
      <p:sp>
        <p:nvSpPr>
          <p:cNvPr id="16" name="Text 14"/>
          <p:cNvSpPr txBox="1"/>
          <p:nvPr/>
        </p:nvSpPr>
        <p:spPr>
          <a:xfrm>
            <a:off x="6364224" y="1600200"/>
            <a:ext cx="1463040" cy="548640"/>
          </a:xfrm>
          <a:prstGeom prst="rect">
            <a:avLst/>
          </a:prstGeom>
          <a:noFill/>
          <a:ln/>
        </p:spPr>
        <p:txBody>
          <a:bodyPr wrap="square" lIns="0" tIns="0" rIns="0" bIns="0" rtlCol="0" anchor="ctr"/>
          <a:lstStyle/>
          <a:p>
            <a:pPr indent="0" marL="0">
              <a:buNone/>
            </a:pPr>
            <a:r>
              <a:rPr lang="en-US" sz="1500" b="1" dirty="0">
                <a:solidFill>
                  <a:srgbClr val="6EE7B7"/>
                </a:solidFill>
                <a:latin typeface="Calibri" pitchFamily="34" charset="0"/>
                <a:ea typeface="Calibri" pitchFamily="34" charset="-122"/>
                <a:cs typeface="Calibri" pitchFamily="34" charset="-120"/>
              </a:rPr>
              <a:t>Decimal engines</a:t>
            </a:r>
            <a:endParaRPr lang="en-US" sz="1500" dirty="0"/>
          </a:p>
        </p:txBody>
      </p:sp>
      <p:sp>
        <p:nvSpPr>
          <p:cNvPr id="17" name="Text 15"/>
          <p:cNvSpPr txBox="1"/>
          <p:nvPr/>
        </p:nvSpPr>
        <p:spPr>
          <a:xfrm>
            <a:off x="6364224" y="2194560"/>
            <a:ext cx="1463040" cy="9144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Exact figures, never the LLM</a:t>
            </a:r>
            <a:endParaRPr lang="en-US" sz="1200" dirty="0"/>
          </a:p>
        </p:txBody>
      </p:sp>
      <p:sp>
        <p:nvSpPr>
          <p:cNvPr id="18" name="Text 16"/>
          <p:cNvSpPr txBox="1"/>
          <p:nvPr/>
        </p:nvSpPr>
        <p:spPr>
          <a:xfrm>
            <a:off x="7918704" y="2011680"/>
            <a:ext cx="228600" cy="457200"/>
          </a:xfrm>
          <a:prstGeom prst="rect">
            <a:avLst/>
          </a:prstGeom>
          <a:noFill/>
          <a:ln/>
        </p:spPr>
        <p:txBody>
          <a:bodyPr wrap="square" lIns="0" tIns="0" rIns="0" bIns="0" rtlCol="0" anchor="ctr"/>
          <a:lstStyle/>
          <a:p>
            <a:pPr algn="ctr" indent="0" marL="0">
              <a:buNone/>
            </a:pPr>
            <a:r>
              <a:rPr lang="en-US" sz="2200" dirty="0">
                <a:solidFill>
                  <a:srgbClr val="6EE7B7"/>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8119872" y="1463040"/>
            <a:ext cx="1709928" cy="1737360"/>
          </a:xfrm>
          <a:prstGeom prst="roundRect">
            <a:avLst>
              <a:gd name="adj" fmla="val 6417"/>
            </a:avLst>
          </a:prstGeom>
          <a:solidFill>
            <a:srgbClr val="131C2E"/>
          </a:solidFill>
          <a:ln w="9525">
            <a:solidFill>
              <a:srgbClr val="2A3654"/>
            </a:solidFill>
            <a:prstDash val="solid"/>
          </a:ln>
        </p:spPr>
      </p:sp>
      <p:sp>
        <p:nvSpPr>
          <p:cNvPr id="20" name="Text 18"/>
          <p:cNvSpPr txBox="1"/>
          <p:nvPr/>
        </p:nvSpPr>
        <p:spPr>
          <a:xfrm>
            <a:off x="8257032" y="1600200"/>
            <a:ext cx="14630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LLM narration</a:t>
            </a:r>
            <a:endParaRPr lang="en-US" sz="1500" dirty="0"/>
          </a:p>
        </p:txBody>
      </p:sp>
      <p:sp>
        <p:nvSpPr>
          <p:cNvPr id="21" name="Text 19"/>
          <p:cNvSpPr txBox="1"/>
          <p:nvPr/>
        </p:nvSpPr>
        <p:spPr>
          <a:xfrm>
            <a:off x="8257032" y="2194560"/>
            <a:ext cx="1463040" cy="9144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On-device MiniCPM5-2B or cloud</a:t>
            </a:r>
            <a:endParaRPr lang="en-US" sz="1200" dirty="0"/>
          </a:p>
        </p:txBody>
      </p:sp>
      <p:sp>
        <p:nvSpPr>
          <p:cNvPr id="22" name="Text 20"/>
          <p:cNvSpPr txBox="1"/>
          <p:nvPr/>
        </p:nvSpPr>
        <p:spPr>
          <a:xfrm>
            <a:off x="9811512" y="2011680"/>
            <a:ext cx="228600" cy="457200"/>
          </a:xfrm>
          <a:prstGeom prst="rect">
            <a:avLst/>
          </a:prstGeom>
          <a:noFill/>
          <a:ln/>
        </p:spPr>
        <p:txBody>
          <a:bodyPr wrap="square" lIns="0" tIns="0" rIns="0" bIns="0" rtlCol="0" anchor="ctr"/>
          <a:lstStyle/>
          <a:p>
            <a:pPr algn="ctr" indent="0" marL="0">
              <a:buNone/>
            </a:pPr>
            <a:r>
              <a:rPr lang="en-US" sz="2200" dirty="0">
                <a:solidFill>
                  <a:srgbClr val="6EE7B7"/>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10012680" y="1463040"/>
            <a:ext cx="1709928" cy="1737360"/>
          </a:xfrm>
          <a:prstGeom prst="roundRect">
            <a:avLst>
              <a:gd name="adj" fmla="val 6417"/>
            </a:avLst>
          </a:prstGeom>
          <a:solidFill>
            <a:srgbClr val="131C2E"/>
          </a:solidFill>
          <a:ln w="9525">
            <a:solidFill>
              <a:srgbClr val="2A3654"/>
            </a:solidFill>
            <a:prstDash val="solid"/>
          </a:ln>
        </p:spPr>
      </p:sp>
      <p:sp>
        <p:nvSpPr>
          <p:cNvPr id="24" name="Text 22"/>
          <p:cNvSpPr txBox="1"/>
          <p:nvPr/>
        </p:nvSpPr>
        <p:spPr>
          <a:xfrm>
            <a:off x="10149840" y="1600200"/>
            <a:ext cx="14630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Grounding check</a:t>
            </a:r>
            <a:endParaRPr lang="en-US" sz="1500" dirty="0"/>
          </a:p>
        </p:txBody>
      </p:sp>
      <p:sp>
        <p:nvSpPr>
          <p:cNvPr id="25" name="Text 23"/>
          <p:cNvSpPr txBox="1"/>
          <p:nvPr/>
        </p:nvSpPr>
        <p:spPr>
          <a:xfrm>
            <a:off x="10149840" y="2194560"/>
            <a:ext cx="1463040" cy="91440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Reply dropped if it invents a figure</a:t>
            </a:r>
            <a:endParaRPr lang="en-US" sz="1200" dirty="0"/>
          </a:p>
        </p:txBody>
      </p:sp>
      <p:sp>
        <p:nvSpPr>
          <p:cNvPr id="26" name="Shape 24"/>
          <p:cNvSpPr/>
          <p:nvPr/>
        </p:nvSpPr>
        <p:spPr>
          <a:xfrm>
            <a:off x="502920" y="3474720"/>
            <a:ext cx="4572000" cy="2891790"/>
          </a:xfrm>
          <a:prstGeom prst="roundRect">
            <a:avLst>
              <a:gd name="adj" fmla="val 2530"/>
            </a:avLst>
          </a:prstGeom>
          <a:solidFill>
            <a:srgbClr val="2A3654"/>
          </a:solidFill>
          <a:ln w="12700">
            <a:solidFill>
              <a:srgbClr val="2A3654"/>
            </a:solidFill>
            <a:prstDash val="solid"/>
          </a:ln>
        </p:spPr>
      </p:sp>
      <p:pic>
        <p:nvPicPr>
          <p:cNvPr id="27" name="Image 0" descr="F:\SME Finance Copilot\submission\03-demo-video\screenshots\07-assistant-answer.png">    </p:cNvPr>
          <p:cNvPicPr>
            <a:picLocks noChangeAspect="1"/>
          </p:cNvPicPr>
          <p:nvPr/>
        </p:nvPicPr>
        <p:blipFill>
          <a:blip r:embed="rId1"/>
          <a:stretch>
            <a:fillRect/>
          </a:stretch>
        </p:blipFill>
        <p:spPr>
          <a:xfrm>
            <a:off x="548640" y="3520440"/>
            <a:ext cx="4480560" cy="2800350"/>
          </a:xfrm>
          <a:prstGeom prst="rect">
            <a:avLst/>
          </a:prstGeom>
        </p:spPr>
      </p:pic>
      <p:sp>
        <p:nvSpPr>
          <p:cNvPr id="28" name="Text 25"/>
          <p:cNvSpPr txBox="1"/>
          <p:nvPr/>
        </p:nvSpPr>
        <p:spPr>
          <a:xfrm>
            <a:off x="5394960" y="3520440"/>
            <a:ext cx="6217920" cy="457200"/>
          </a:xfrm>
          <a:prstGeom prst="rect">
            <a:avLst/>
          </a:prstGeom>
          <a:noFill/>
          <a:ln/>
        </p:spPr>
        <p:txBody>
          <a:bodyPr wrap="square" lIns="0" tIns="0" rIns="0" bIns="0" rtlCol="0" anchor="ctr"/>
          <a:lstStyle/>
          <a:p>
            <a:pPr indent="0" marL="0">
              <a:buNone/>
            </a:pPr>
            <a:r>
              <a:rPr lang="en-US" sz="2000" b="1" dirty="0">
                <a:solidFill>
                  <a:srgbClr val="6EE7B7"/>
                </a:solidFill>
                <a:latin typeface="Calibri" pitchFamily="34" charset="0"/>
                <a:ea typeface="Calibri" pitchFamily="34" charset="-122"/>
                <a:cs typeface="Calibri" pitchFamily="34" charset="-120"/>
              </a:rPr>
              <a:t>Why this is different</a:t>
            </a:r>
            <a:endParaRPr lang="en-US" sz="2000" dirty="0"/>
          </a:p>
        </p:txBody>
      </p:sp>
      <p:sp>
        <p:nvSpPr>
          <p:cNvPr id="29" name="Text 26"/>
          <p:cNvSpPr txBox="1"/>
          <p:nvPr/>
        </p:nvSpPr>
        <p:spPr>
          <a:xfrm>
            <a:off x="5394960" y="4023360"/>
            <a:ext cx="62179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Every number in a reply comes from Python Decimal code; numbers_are_grounded() rejects any reply quoting a figure the engine did not produce</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Runs fully on the owner's computer with a 2B model; cloud providers (Gemini, Claude, OpenAI, DeepSeek, Groq) are optional; account numbers and customer names are masked before text leaves</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Lending rules live in 15 JSON decision tables, so a credit policy change is reviewed data, not new code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Six layers, with untrusted reasoning kept away from money</a:t>
            </a:r>
            <a:endParaRPr lang="en-US" sz="3200" dirty="0"/>
          </a:p>
        </p:txBody>
      </p:sp>
      <p:sp>
        <p:nvSpPr>
          <p:cNvPr id="3" name="Shape 1"/>
          <p:cNvSpPr/>
          <p:nvPr/>
        </p:nvSpPr>
        <p:spPr>
          <a:xfrm>
            <a:off x="548640" y="1371600"/>
            <a:ext cx="11064240" cy="694944"/>
          </a:xfrm>
          <a:prstGeom prst="roundRect">
            <a:avLst>
              <a:gd name="adj" fmla="val 15789"/>
            </a:avLst>
          </a:prstGeom>
          <a:solidFill>
            <a:srgbClr val="131C2E"/>
          </a:solidFill>
          <a:ln w="9525">
            <a:solidFill>
              <a:srgbClr val="2A3654"/>
            </a:solidFill>
            <a:prstDash val="solid"/>
          </a:ln>
        </p:spPr>
      </p:sp>
      <p:sp>
        <p:nvSpPr>
          <p:cNvPr id="4" name="Text 2"/>
          <p:cNvSpPr txBox="1"/>
          <p:nvPr/>
        </p:nvSpPr>
        <p:spPr>
          <a:xfrm>
            <a:off x="777240" y="1371600"/>
            <a:ext cx="548640" cy="694944"/>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L1</a:t>
            </a:r>
            <a:endParaRPr lang="en-US" sz="1600" dirty="0"/>
          </a:p>
        </p:txBody>
      </p:sp>
      <p:sp>
        <p:nvSpPr>
          <p:cNvPr id="5" name="Text 3"/>
          <p:cNvSpPr txBox="1"/>
          <p:nvPr/>
        </p:nvSpPr>
        <p:spPr>
          <a:xfrm>
            <a:off x="1371600" y="1371600"/>
            <a:ext cx="2926080" cy="69494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Next.js 14 dashboard</a:t>
            </a:r>
            <a:endParaRPr lang="en-US" sz="1700" dirty="0"/>
          </a:p>
        </p:txBody>
      </p:sp>
      <p:sp>
        <p:nvSpPr>
          <p:cNvPr id="6" name="Text 4"/>
          <p:cNvSpPr txBox="1"/>
          <p:nvPr/>
        </p:nvSpPr>
        <p:spPr>
          <a:xfrm>
            <a:off x="4297680" y="1371600"/>
            <a:ext cx="7132320" cy="694944"/>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7 workspaces · renders server results only, no approval logic in the browser</a:t>
            </a:r>
            <a:endParaRPr lang="en-US" sz="1400" dirty="0"/>
          </a:p>
        </p:txBody>
      </p:sp>
      <p:sp>
        <p:nvSpPr>
          <p:cNvPr id="7" name="Shape 5"/>
          <p:cNvSpPr/>
          <p:nvPr/>
        </p:nvSpPr>
        <p:spPr>
          <a:xfrm>
            <a:off x="548640" y="2176272"/>
            <a:ext cx="11064240" cy="694944"/>
          </a:xfrm>
          <a:prstGeom prst="roundRect">
            <a:avLst>
              <a:gd name="adj" fmla="val 15789"/>
            </a:avLst>
          </a:prstGeom>
          <a:solidFill>
            <a:srgbClr val="131C2E"/>
          </a:solidFill>
          <a:ln w="9525">
            <a:solidFill>
              <a:srgbClr val="2A3654"/>
            </a:solidFill>
            <a:prstDash val="solid"/>
          </a:ln>
        </p:spPr>
      </p:sp>
      <p:sp>
        <p:nvSpPr>
          <p:cNvPr id="8" name="Text 6"/>
          <p:cNvSpPr txBox="1"/>
          <p:nvPr/>
        </p:nvSpPr>
        <p:spPr>
          <a:xfrm>
            <a:off x="777240" y="2176272"/>
            <a:ext cx="548640" cy="694944"/>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L2</a:t>
            </a:r>
            <a:endParaRPr lang="en-US" sz="1600" dirty="0"/>
          </a:p>
        </p:txBody>
      </p:sp>
      <p:sp>
        <p:nvSpPr>
          <p:cNvPr id="9" name="Text 7"/>
          <p:cNvSpPr txBox="1"/>
          <p:nvPr/>
        </p:nvSpPr>
        <p:spPr>
          <a:xfrm>
            <a:off x="1371600" y="2176272"/>
            <a:ext cx="2926080" cy="69494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FastAPI gateway</a:t>
            </a:r>
            <a:endParaRPr lang="en-US" sz="1700" dirty="0"/>
          </a:p>
        </p:txBody>
      </p:sp>
      <p:sp>
        <p:nvSpPr>
          <p:cNvPr id="10" name="Text 8"/>
          <p:cNvSpPr txBox="1"/>
          <p:nvPr/>
        </p:nvSpPr>
        <p:spPr>
          <a:xfrm>
            <a:off x="4297680" y="2176272"/>
            <a:ext cx="7132320" cy="694944"/>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Rate limit · Pydantic extra="forbid" · upload limits · signed tenant tokens</a:t>
            </a:r>
            <a:endParaRPr lang="en-US" sz="1400" dirty="0"/>
          </a:p>
        </p:txBody>
      </p:sp>
      <p:sp>
        <p:nvSpPr>
          <p:cNvPr id="11" name="Shape 9"/>
          <p:cNvSpPr/>
          <p:nvPr/>
        </p:nvSpPr>
        <p:spPr>
          <a:xfrm>
            <a:off x="548640" y="2980944"/>
            <a:ext cx="11064240" cy="694944"/>
          </a:xfrm>
          <a:prstGeom prst="roundRect">
            <a:avLst>
              <a:gd name="adj" fmla="val 15789"/>
            </a:avLst>
          </a:prstGeom>
          <a:solidFill>
            <a:srgbClr val="131C2E"/>
          </a:solidFill>
          <a:ln w="9525">
            <a:solidFill>
              <a:srgbClr val="2A3654"/>
            </a:solidFill>
            <a:prstDash val="solid"/>
          </a:ln>
        </p:spPr>
      </p:sp>
      <p:sp>
        <p:nvSpPr>
          <p:cNvPr id="12" name="Text 10"/>
          <p:cNvSpPr txBox="1"/>
          <p:nvPr/>
        </p:nvSpPr>
        <p:spPr>
          <a:xfrm>
            <a:off x="777240" y="2980944"/>
            <a:ext cx="548640" cy="694944"/>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L3</a:t>
            </a:r>
            <a:endParaRPr lang="en-US" sz="1600" dirty="0"/>
          </a:p>
        </p:txBody>
      </p:sp>
      <p:sp>
        <p:nvSpPr>
          <p:cNvPr id="13" name="Text 11"/>
          <p:cNvSpPr txBox="1"/>
          <p:nvPr/>
        </p:nvSpPr>
        <p:spPr>
          <a:xfrm>
            <a:off x="1371600" y="2980944"/>
            <a:ext cx="2926080" cy="69494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Agent supervisor</a:t>
            </a:r>
            <a:endParaRPr lang="en-US" sz="1700" dirty="0"/>
          </a:p>
        </p:txBody>
      </p:sp>
      <p:sp>
        <p:nvSpPr>
          <p:cNvPr id="14" name="Text 12"/>
          <p:cNvSpPr txBox="1"/>
          <p:nvPr/>
        </p:nvSpPr>
        <p:spPr>
          <a:xfrm>
            <a:off x="4297680" y="2980944"/>
            <a:ext cx="7132320" cy="694944"/>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Guardrails · semantic router · subagents · Universal LLM Bridge · local SLM</a:t>
            </a:r>
            <a:endParaRPr lang="en-US" sz="1400" dirty="0"/>
          </a:p>
        </p:txBody>
      </p:sp>
      <p:sp>
        <p:nvSpPr>
          <p:cNvPr id="15" name="Shape 13"/>
          <p:cNvSpPr/>
          <p:nvPr/>
        </p:nvSpPr>
        <p:spPr>
          <a:xfrm>
            <a:off x="548640" y="3785616"/>
            <a:ext cx="11064240" cy="694944"/>
          </a:xfrm>
          <a:prstGeom prst="roundRect">
            <a:avLst>
              <a:gd name="adj" fmla="val 15789"/>
            </a:avLst>
          </a:prstGeom>
          <a:solidFill>
            <a:srgbClr val="1A2540"/>
          </a:solidFill>
          <a:ln w="9525">
            <a:solidFill>
              <a:srgbClr val="2A3654"/>
            </a:solidFill>
            <a:prstDash val="solid"/>
          </a:ln>
        </p:spPr>
      </p:sp>
      <p:sp>
        <p:nvSpPr>
          <p:cNvPr id="16" name="Text 14"/>
          <p:cNvSpPr txBox="1"/>
          <p:nvPr/>
        </p:nvSpPr>
        <p:spPr>
          <a:xfrm>
            <a:off x="777240" y="3785616"/>
            <a:ext cx="548640" cy="694944"/>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L4</a:t>
            </a:r>
            <a:endParaRPr lang="en-US" sz="1600" dirty="0"/>
          </a:p>
        </p:txBody>
      </p:sp>
      <p:sp>
        <p:nvSpPr>
          <p:cNvPr id="17" name="Text 15"/>
          <p:cNvSpPr txBox="1"/>
          <p:nvPr/>
        </p:nvSpPr>
        <p:spPr>
          <a:xfrm>
            <a:off x="1371600" y="3785616"/>
            <a:ext cx="2926080" cy="69494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Deterministic engine</a:t>
            </a:r>
            <a:endParaRPr lang="en-US" sz="1700" dirty="0"/>
          </a:p>
        </p:txBody>
      </p:sp>
      <p:sp>
        <p:nvSpPr>
          <p:cNvPr id="18" name="Text 16"/>
          <p:cNvSpPr txBox="1"/>
          <p:nvPr/>
        </p:nvSpPr>
        <p:spPr>
          <a:xfrm>
            <a:off x="4297680" y="3785616"/>
            <a:ext cx="7132320" cy="694944"/>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Statement parsing + tie-out · 25 Decimal engines · ZenEngine decision tables</a:t>
            </a:r>
            <a:endParaRPr lang="en-US" sz="1400" dirty="0"/>
          </a:p>
        </p:txBody>
      </p:sp>
      <p:sp>
        <p:nvSpPr>
          <p:cNvPr id="19" name="Shape 17"/>
          <p:cNvSpPr/>
          <p:nvPr/>
        </p:nvSpPr>
        <p:spPr>
          <a:xfrm>
            <a:off x="548640" y="4590288"/>
            <a:ext cx="11064240" cy="694944"/>
          </a:xfrm>
          <a:prstGeom prst="roundRect">
            <a:avLst>
              <a:gd name="adj" fmla="val 15789"/>
            </a:avLst>
          </a:prstGeom>
          <a:solidFill>
            <a:srgbClr val="131C2E"/>
          </a:solidFill>
          <a:ln w="9525">
            <a:solidFill>
              <a:srgbClr val="2A3654"/>
            </a:solidFill>
            <a:prstDash val="solid"/>
          </a:ln>
        </p:spPr>
      </p:sp>
      <p:sp>
        <p:nvSpPr>
          <p:cNvPr id="20" name="Text 18"/>
          <p:cNvSpPr txBox="1"/>
          <p:nvPr/>
        </p:nvSpPr>
        <p:spPr>
          <a:xfrm>
            <a:off x="777240" y="4590288"/>
            <a:ext cx="548640" cy="694944"/>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L5</a:t>
            </a:r>
            <a:endParaRPr lang="en-US" sz="1600" dirty="0"/>
          </a:p>
        </p:txBody>
      </p:sp>
      <p:sp>
        <p:nvSpPr>
          <p:cNvPr id="21" name="Text 19"/>
          <p:cNvSpPr txBox="1"/>
          <p:nvPr/>
        </p:nvSpPr>
        <p:spPr>
          <a:xfrm>
            <a:off x="1371600" y="4590288"/>
            <a:ext cx="2926080" cy="69494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Storage</a:t>
            </a:r>
            <a:endParaRPr lang="en-US" sz="1700" dirty="0"/>
          </a:p>
        </p:txBody>
      </p:sp>
      <p:sp>
        <p:nvSpPr>
          <p:cNvPr id="22" name="Text 20"/>
          <p:cNvSpPr txBox="1"/>
          <p:nvPr/>
        </p:nvSpPr>
        <p:spPr>
          <a:xfrm>
            <a:off x="4297680" y="4590288"/>
            <a:ext cx="7132320" cy="694944"/>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Staging ledger, sessions, invoice registry · owner-only files · Fernet at rest</a:t>
            </a:r>
            <a:endParaRPr lang="en-US" sz="1400" dirty="0"/>
          </a:p>
        </p:txBody>
      </p:sp>
      <p:sp>
        <p:nvSpPr>
          <p:cNvPr id="23" name="Shape 21"/>
          <p:cNvSpPr/>
          <p:nvPr/>
        </p:nvSpPr>
        <p:spPr>
          <a:xfrm>
            <a:off x="548640" y="5394960"/>
            <a:ext cx="11064240" cy="694944"/>
          </a:xfrm>
          <a:prstGeom prst="roundRect">
            <a:avLst>
              <a:gd name="adj" fmla="val 15789"/>
            </a:avLst>
          </a:prstGeom>
          <a:solidFill>
            <a:srgbClr val="131C2E"/>
          </a:solidFill>
          <a:ln w="9525">
            <a:solidFill>
              <a:srgbClr val="2A3654"/>
            </a:solidFill>
            <a:prstDash val="solid"/>
          </a:ln>
        </p:spPr>
      </p:sp>
      <p:sp>
        <p:nvSpPr>
          <p:cNvPr id="24" name="Text 22"/>
          <p:cNvSpPr txBox="1"/>
          <p:nvPr/>
        </p:nvSpPr>
        <p:spPr>
          <a:xfrm>
            <a:off x="777240" y="5394960"/>
            <a:ext cx="548640" cy="694944"/>
          </a:xfrm>
          <a:prstGeom prst="rect">
            <a:avLst/>
          </a:prstGeom>
          <a:noFill/>
          <a:ln/>
        </p:spPr>
        <p:txBody>
          <a:bodyPr wrap="square" lIns="0" tIns="0" rIns="0" bIns="0" rtlCol="0" anchor="ctr"/>
          <a:lstStyle/>
          <a:p>
            <a:pPr indent="0" marL="0">
              <a:buNone/>
            </a:pPr>
            <a:r>
              <a:rPr lang="en-US" sz="1600" b="1" dirty="0">
                <a:solidFill>
                  <a:srgbClr val="6EE7B7"/>
                </a:solidFill>
                <a:latin typeface="Calibri" pitchFamily="34" charset="0"/>
                <a:ea typeface="Calibri" pitchFamily="34" charset="-122"/>
                <a:cs typeface="Calibri" pitchFamily="34" charset="-120"/>
              </a:rPr>
              <a:t>L6</a:t>
            </a:r>
            <a:endParaRPr lang="en-US" sz="1600" dirty="0"/>
          </a:p>
        </p:txBody>
      </p:sp>
      <p:sp>
        <p:nvSpPr>
          <p:cNvPr id="25" name="Text 23"/>
          <p:cNvSpPr txBox="1"/>
          <p:nvPr/>
        </p:nvSpPr>
        <p:spPr>
          <a:xfrm>
            <a:off x="1371600" y="5394960"/>
            <a:ext cx="2926080" cy="69494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Invoice registry</a:t>
            </a:r>
            <a:endParaRPr lang="en-US" sz="1700" dirty="0"/>
          </a:p>
        </p:txBody>
      </p:sp>
      <p:sp>
        <p:nvSpPr>
          <p:cNvPr id="26" name="Text 24"/>
          <p:cNvSpPr txBox="1"/>
          <p:nvPr/>
        </p:nvSpPr>
        <p:spPr>
          <a:xfrm>
            <a:off x="4297680" y="5394960"/>
            <a:ext cx="7132320" cy="694944"/>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SHA-256 canonical invoice hash · first pledge wins · InvoiceRegistry.sol (FISCO BCOS)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Three tiers: the agent drafts, only the owner acts</a:t>
            </a:r>
            <a:endParaRPr lang="en-US" sz="3200" dirty="0"/>
          </a:p>
        </p:txBody>
      </p:sp>
      <p:sp>
        <p:nvSpPr>
          <p:cNvPr id="3" name="Shape 1"/>
          <p:cNvSpPr/>
          <p:nvPr/>
        </p:nvSpPr>
        <p:spPr>
          <a:xfrm>
            <a:off x="548640" y="1417320"/>
            <a:ext cx="3520440" cy="3291840"/>
          </a:xfrm>
          <a:prstGeom prst="roundRect">
            <a:avLst>
              <a:gd name="adj" fmla="val 3333"/>
            </a:avLst>
          </a:prstGeom>
          <a:solidFill>
            <a:srgbClr val="131C2E"/>
          </a:solidFill>
          <a:ln w="9525">
            <a:solidFill>
              <a:srgbClr val="2A3654"/>
            </a:solidFill>
            <a:prstDash val="solid"/>
          </a:ln>
        </p:spPr>
      </p:sp>
      <p:sp>
        <p:nvSpPr>
          <p:cNvPr id="4" name="Text 2"/>
          <p:cNvSpPr txBox="1"/>
          <p:nvPr/>
        </p:nvSpPr>
        <p:spPr>
          <a:xfrm>
            <a:off x="868680" y="1645920"/>
            <a:ext cx="2926080" cy="320040"/>
          </a:xfrm>
          <a:prstGeom prst="rect">
            <a:avLst/>
          </a:prstGeom>
          <a:noFill/>
          <a:ln/>
        </p:spPr>
        <p:txBody>
          <a:bodyPr wrap="square" lIns="0" tIns="0" rIns="0" bIns="0" rtlCol="0" anchor="ctr"/>
          <a:lstStyle/>
          <a:p>
            <a:pPr indent="0" marL="0">
              <a:buNone/>
            </a:pPr>
            <a:r>
              <a:rPr lang="en-US" sz="1300" b="1" spc="200" kern="0" dirty="0">
                <a:solidFill>
                  <a:srgbClr val="6EE7B7"/>
                </a:solidFill>
                <a:latin typeface="Calibri" pitchFamily="34" charset="0"/>
                <a:ea typeface="Calibri" pitchFamily="34" charset="-122"/>
                <a:cs typeface="Calibri" pitchFamily="34" charset="-120"/>
              </a:rPr>
              <a:t>TIER 1</a:t>
            </a:r>
            <a:endParaRPr lang="en-US" sz="1300" dirty="0"/>
          </a:p>
        </p:txBody>
      </p:sp>
      <p:sp>
        <p:nvSpPr>
          <p:cNvPr id="5" name="Text 3"/>
          <p:cNvSpPr txBox="1"/>
          <p:nvPr/>
        </p:nvSpPr>
        <p:spPr>
          <a:xfrm>
            <a:off x="868680" y="1965960"/>
            <a:ext cx="292608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Observe</a:t>
            </a:r>
            <a:endParaRPr lang="en-US" sz="2800" dirty="0"/>
          </a:p>
        </p:txBody>
      </p:sp>
      <p:sp>
        <p:nvSpPr>
          <p:cNvPr id="6" name="Text 4"/>
          <p:cNvSpPr txBox="1"/>
          <p:nvPr/>
        </p:nvSpPr>
        <p:spPr>
          <a:xfrm>
            <a:off x="868680" y="2606040"/>
            <a:ext cx="2926080" cy="365760"/>
          </a:xfrm>
          <a:prstGeom prst="rect">
            <a:avLst/>
          </a:prstGeom>
          <a:noFill/>
          <a:ln/>
        </p:spPr>
        <p:txBody>
          <a:bodyPr wrap="square" lIns="0" tIns="0" rIns="0" bIns="0" rtlCol="0" anchor="ctr"/>
          <a:lstStyle/>
          <a:p>
            <a:pPr indent="0" marL="0">
              <a:buNone/>
            </a:pPr>
            <a:r>
              <a:rPr lang="en-US" sz="1500" dirty="0">
                <a:solidFill>
                  <a:srgbClr val="6EE7B7"/>
                </a:solidFill>
                <a:latin typeface="Calibri" pitchFamily="34" charset="0"/>
                <a:ea typeface="Calibri" pitchFamily="34" charset="-122"/>
                <a:cs typeface="Calibri" pitchFamily="34" charset="-120"/>
              </a:rPr>
              <a:t>Autonomous</a:t>
            </a:r>
            <a:endParaRPr lang="en-US" sz="1500" dirty="0"/>
          </a:p>
        </p:txBody>
      </p:sp>
      <p:sp>
        <p:nvSpPr>
          <p:cNvPr id="7" name="Text 5"/>
          <p:cNvSpPr txBox="1"/>
          <p:nvPr/>
        </p:nvSpPr>
        <p:spPr>
          <a:xfrm>
            <a:off x="868680" y="3063240"/>
            <a:ext cx="2926080" cy="1554480"/>
          </a:xfrm>
          <a:prstGeom prst="rect">
            <a:avLst/>
          </a:prstGeom>
          <a:noFill/>
          <a:ln/>
        </p:spPr>
        <p:txBody>
          <a:bodyPr wrap="square" lIns="0" tIns="0" rIns="0" bIns="0" rtlCol="0" anchor="t"/>
          <a:lstStyle/>
          <a:p>
            <a:pPr indent="0" marL="0">
              <a:buNone/>
            </a:pPr>
            <a:r>
              <a:rPr lang="en-US" sz="1400" dirty="0">
                <a:solidFill>
                  <a:srgbClr val="CBD5E1"/>
                </a:solidFill>
                <a:latin typeface="Calibri" pitchFamily="34" charset="0"/>
                <a:ea typeface="Calibri" pitchFamily="34" charset="-122"/>
                <a:cs typeface="Calibri" pitchFamily="34" charset="-120"/>
              </a:rPr>
              <a:t>Statement analysis, forecasts, scoring, chat answers. Read-only.</a:t>
            </a:r>
            <a:endParaRPr lang="en-US" sz="1400" dirty="0"/>
          </a:p>
        </p:txBody>
      </p:sp>
      <p:sp>
        <p:nvSpPr>
          <p:cNvPr id="8" name="Shape 6"/>
          <p:cNvSpPr/>
          <p:nvPr/>
        </p:nvSpPr>
        <p:spPr>
          <a:xfrm>
            <a:off x="4297680" y="1417320"/>
            <a:ext cx="3520440" cy="3291840"/>
          </a:xfrm>
          <a:prstGeom prst="roundRect">
            <a:avLst>
              <a:gd name="adj" fmla="val 3333"/>
            </a:avLst>
          </a:prstGeom>
          <a:solidFill>
            <a:srgbClr val="131C2E"/>
          </a:solidFill>
          <a:ln w="9525">
            <a:solidFill>
              <a:srgbClr val="2A3654"/>
            </a:solidFill>
            <a:prstDash val="solid"/>
          </a:ln>
        </p:spPr>
      </p:sp>
      <p:sp>
        <p:nvSpPr>
          <p:cNvPr id="9" name="Text 7"/>
          <p:cNvSpPr txBox="1"/>
          <p:nvPr/>
        </p:nvSpPr>
        <p:spPr>
          <a:xfrm>
            <a:off x="4617720" y="1645920"/>
            <a:ext cx="2926080" cy="320040"/>
          </a:xfrm>
          <a:prstGeom prst="rect">
            <a:avLst/>
          </a:prstGeom>
          <a:noFill/>
          <a:ln/>
        </p:spPr>
        <p:txBody>
          <a:bodyPr wrap="square" lIns="0" tIns="0" rIns="0" bIns="0" rtlCol="0" anchor="ctr"/>
          <a:lstStyle/>
          <a:p>
            <a:pPr indent="0" marL="0">
              <a:buNone/>
            </a:pPr>
            <a:r>
              <a:rPr lang="en-US" sz="1300" b="1" spc="200" kern="0" dirty="0">
                <a:solidFill>
                  <a:srgbClr val="FBBF24"/>
                </a:solidFill>
                <a:latin typeface="Calibri" pitchFamily="34" charset="0"/>
                <a:ea typeface="Calibri" pitchFamily="34" charset="-122"/>
                <a:cs typeface="Calibri" pitchFamily="34" charset="-120"/>
              </a:rPr>
              <a:t>TIER 2</a:t>
            </a:r>
            <a:endParaRPr lang="en-US" sz="1300" dirty="0"/>
          </a:p>
        </p:txBody>
      </p:sp>
      <p:sp>
        <p:nvSpPr>
          <p:cNvPr id="10" name="Text 8"/>
          <p:cNvSpPr txBox="1"/>
          <p:nvPr/>
        </p:nvSpPr>
        <p:spPr>
          <a:xfrm>
            <a:off x="4617720" y="1965960"/>
            <a:ext cx="292608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Draft</a:t>
            </a:r>
            <a:endParaRPr lang="en-US" sz="2800" dirty="0"/>
          </a:p>
        </p:txBody>
      </p:sp>
      <p:sp>
        <p:nvSpPr>
          <p:cNvPr id="11" name="Text 9"/>
          <p:cNvSpPr txBox="1"/>
          <p:nvPr/>
        </p:nvSpPr>
        <p:spPr>
          <a:xfrm>
            <a:off x="4617720" y="2606040"/>
            <a:ext cx="2926080" cy="365760"/>
          </a:xfrm>
          <a:prstGeom prst="rect">
            <a:avLst/>
          </a:prstGeom>
          <a:noFill/>
          <a:ln/>
        </p:spPr>
        <p:txBody>
          <a:bodyPr wrap="square" lIns="0" tIns="0" rIns="0" bIns="0" rtlCol="0" anchor="ctr"/>
          <a:lstStyle/>
          <a:p>
            <a:pPr indent="0" marL="0">
              <a:buNone/>
            </a:pPr>
            <a:r>
              <a:rPr lang="en-US" sz="1500" dirty="0">
                <a:solidFill>
                  <a:srgbClr val="FBBF24"/>
                </a:solidFill>
                <a:latin typeface="Calibri" pitchFamily="34" charset="0"/>
                <a:ea typeface="Calibri" pitchFamily="34" charset="-122"/>
                <a:cs typeface="Calibri" pitchFamily="34" charset="-120"/>
              </a:rPr>
              <a:t>Signed tenant token</a:t>
            </a:r>
            <a:endParaRPr lang="en-US" sz="1500" dirty="0"/>
          </a:p>
        </p:txBody>
      </p:sp>
      <p:sp>
        <p:nvSpPr>
          <p:cNvPr id="12" name="Text 10"/>
          <p:cNvSpPr txBox="1"/>
          <p:nvPr/>
        </p:nvSpPr>
        <p:spPr>
          <a:xfrm>
            <a:off x="4617720" y="3063240"/>
            <a:ext cx="2926080" cy="1554480"/>
          </a:xfrm>
          <a:prstGeom prst="rect">
            <a:avLst/>
          </a:prstGeom>
          <a:noFill/>
          <a:ln/>
        </p:spPr>
        <p:txBody>
          <a:bodyPr wrap="square" lIns="0" tIns="0" rIns="0" bIns="0" rtlCol="0" anchor="t"/>
          <a:lstStyle/>
          <a:p>
            <a:pPr indent="0" marL="0">
              <a:buNone/>
            </a:pPr>
            <a:r>
              <a:rPr lang="en-US" sz="1400" dirty="0">
                <a:solidFill>
                  <a:srgbClr val="CBD5E1"/>
                </a:solidFill>
                <a:latin typeface="Calibri" pitchFamily="34" charset="0"/>
                <a:ea typeface="Calibri" pitchFamily="34" charset="-122"/>
                <a:cs typeface="Calibri" pitchFamily="34" charset="-120"/>
              </a:rPr>
              <a:t>Credit draws, factoring, transfers staged as proposals: STAGED_PENDING_HITL, 72 h expiry, 5 min dedupe.</a:t>
            </a:r>
            <a:endParaRPr lang="en-US" sz="1400" dirty="0"/>
          </a:p>
        </p:txBody>
      </p:sp>
      <p:sp>
        <p:nvSpPr>
          <p:cNvPr id="13" name="Shape 11"/>
          <p:cNvSpPr/>
          <p:nvPr/>
        </p:nvSpPr>
        <p:spPr>
          <a:xfrm>
            <a:off x="8046720" y="1417320"/>
            <a:ext cx="3520440" cy="3291840"/>
          </a:xfrm>
          <a:prstGeom prst="roundRect">
            <a:avLst>
              <a:gd name="adj" fmla="val 3333"/>
            </a:avLst>
          </a:prstGeom>
          <a:solidFill>
            <a:srgbClr val="131C2E"/>
          </a:solidFill>
          <a:ln w="9525">
            <a:solidFill>
              <a:srgbClr val="2A3654"/>
            </a:solidFill>
            <a:prstDash val="solid"/>
          </a:ln>
        </p:spPr>
      </p:sp>
      <p:sp>
        <p:nvSpPr>
          <p:cNvPr id="14" name="Text 12"/>
          <p:cNvSpPr txBox="1"/>
          <p:nvPr/>
        </p:nvSpPr>
        <p:spPr>
          <a:xfrm>
            <a:off x="8366760" y="1645920"/>
            <a:ext cx="2926080" cy="320040"/>
          </a:xfrm>
          <a:prstGeom prst="rect">
            <a:avLst/>
          </a:prstGeom>
          <a:noFill/>
          <a:ln/>
        </p:spPr>
        <p:txBody>
          <a:bodyPr wrap="square" lIns="0" tIns="0" rIns="0" bIns="0" rtlCol="0" anchor="ctr"/>
          <a:lstStyle/>
          <a:p>
            <a:pPr indent="0" marL="0">
              <a:buNone/>
            </a:pPr>
            <a:r>
              <a:rPr lang="en-US" sz="1300" b="1" spc="200" kern="0" dirty="0">
                <a:solidFill>
                  <a:srgbClr val="F87171"/>
                </a:solidFill>
                <a:latin typeface="Calibri" pitchFamily="34" charset="0"/>
                <a:ea typeface="Calibri" pitchFamily="34" charset="-122"/>
                <a:cs typeface="Calibri" pitchFamily="34" charset="-120"/>
              </a:rPr>
              <a:t>TIER 3</a:t>
            </a:r>
            <a:endParaRPr lang="en-US" sz="1300" dirty="0"/>
          </a:p>
        </p:txBody>
      </p:sp>
      <p:sp>
        <p:nvSpPr>
          <p:cNvPr id="15" name="Text 13"/>
          <p:cNvSpPr txBox="1"/>
          <p:nvPr/>
        </p:nvSpPr>
        <p:spPr>
          <a:xfrm>
            <a:off x="8366760" y="1965960"/>
            <a:ext cx="292608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Owner-sent</a:t>
            </a:r>
            <a:endParaRPr lang="en-US" sz="2800" dirty="0"/>
          </a:p>
        </p:txBody>
      </p:sp>
      <p:sp>
        <p:nvSpPr>
          <p:cNvPr id="16" name="Text 14"/>
          <p:cNvSpPr txBox="1"/>
          <p:nvPr/>
        </p:nvSpPr>
        <p:spPr>
          <a:xfrm>
            <a:off x="8366760" y="2606040"/>
            <a:ext cx="2926080" cy="365760"/>
          </a:xfrm>
          <a:prstGeom prst="rect">
            <a:avLst/>
          </a:prstGeom>
          <a:noFill/>
          <a:ln/>
        </p:spPr>
        <p:txBody>
          <a:bodyPr wrap="square" lIns="0" tIns="0" rIns="0" bIns="0" rtlCol="0" anchor="ctr"/>
          <a:lstStyle/>
          <a:p>
            <a:pPr indent="0" marL="0">
              <a:buNone/>
            </a:pPr>
            <a:r>
              <a:rPr lang="en-US" sz="1500" dirty="0">
                <a:solidFill>
                  <a:srgbClr val="F87171"/>
                </a:solidFill>
                <a:latin typeface="Calibri" pitchFamily="34" charset="0"/>
                <a:ea typeface="Calibri" pitchFamily="34" charset="-122"/>
                <a:cs typeface="Calibri" pitchFamily="34" charset="-120"/>
              </a:rPr>
              <a:t>Owner only</a:t>
            </a:r>
            <a:endParaRPr lang="en-US" sz="1500" dirty="0"/>
          </a:p>
        </p:txBody>
      </p:sp>
      <p:sp>
        <p:nvSpPr>
          <p:cNvPr id="17" name="Text 15"/>
          <p:cNvSpPr txBox="1"/>
          <p:nvPr/>
        </p:nvSpPr>
        <p:spPr>
          <a:xfrm>
            <a:off x="8366760" y="3063240"/>
            <a:ext cx="2926080" cy="1554480"/>
          </a:xfrm>
          <a:prstGeom prst="rect">
            <a:avLst/>
          </a:prstGeom>
          <a:noFill/>
          <a:ln/>
        </p:spPr>
        <p:txBody>
          <a:bodyPr wrap="square" lIns="0" tIns="0" rIns="0" bIns="0" rtlCol="0" anchor="t"/>
          <a:lstStyle/>
          <a:p>
            <a:pPr indent="0" marL="0">
              <a:buNone/>
            </a:pPr>
            <a:r>
              <a:rPr lang="en-US" sz="1400" dirty="0">
                <a:solidFill>
                  <a:srgbClr val="CBD5E1"/>
                </a:solidFill>
                <a:latin typeface="Calibri" pitchFamily="34" charset="0"/>
                <a:ea typeface="Calibri" pitchFamily="34" charset="-122"/>
                <a:cs typeface="Calibri" pitchFamily="34" charset="-120"/>
              </a:rPr>
              <a:t>No execute route exists. "Prepare" gives the owner a pre-filled request to send from their own email or lender portal.</a:t>
            </a:r>
            <a:endParaRPr lang="en-US" sz="1400" dirty="0"/>
          </a:p>
        </p:txBody>
      </p:sp>
      <p:sp>
        <p:nvSpPr>
          <p:cNvPr id="18" name="Shape 16"/>
          <p:cNvSpPr/>
          <p:nvPr/>
        </p:nvSpPr>
        <p:spPr>
          <a:xfrm>
            <a:off x="548640" y="4937760"/>
            <a:ext cx="11064240" cy="1234440"/>
          </a:xfrm>
          <a:prstGeom prst="roundRect">
            <a:avLst>
              <a:gd name="adj" fmla="val 8889"/>
            </a:avLst>
          </a:prstGeom>
          <a:solidFill>
            <a:srgbClr val="1A2540"/>
          </a:solidFill>
          <a:ln w="9525">
            <a:solidFill>
              <a:srgbClr val="2A3654"/>
            </a:solidFill>
            <a:prstDash val="solid"/>
          </a:ln>
        </p:spPr>
      </p:sp>
      <p:sp>
        <p:nvSpPr>
          <p:cNvPr id="19" name="Text 17"/>
          <p:cNvSpPr txBox="1"/>
          <p:nvPr/>
        </p:nvSpPr>
        <p:spPr>
          <a:xfrm>
            <a:off x="868680" y="4983480"/>
            <a:ext cx="1463040" cy="1143000"/>
          </a:xfrm>
          <a:prstGeom prst="rect">
            <a:avLst/>
          </a:prstGeom>
          <a:noFill/>
          <a:ln/>
        </p:spPr>
        <p:txBody>
          <a:bodyPr wrap="square" lIns="0" tIns="0" rIns="0" bIns="0" rtlCol="0" anchor="ctr"/>
          <a:lstStyle/>
          <a:p>
            <a:pPr indent="0" marL="0">
              <a:buNone/>
            </a:pPr>
            <a:r>
              <a:rPr lang="en-US" sz="5400" b="1" dirty="0">
                <a:solidFill>
                  <a:srgbClr val="6EE7B7"/>
                </a:solidFill>
                <a:latin typeface="Calibri" pitchFamily="34" charset="0"/>
                <a:ea typeface="Calibri" pitchFamily="34" charset="-122"/>
                <a:cs typeface="Calibri" pitchFamily="34" charset="-120"/>
              </a:rPr>
              <a:t>$0</a:t>
            </a:r>
            <a:endParaRPr lang="en-US" sz="5400" dirty="0"/>
          </a:p>
        </p:txBody>
      </p:sp>
      <p:sp>
        <p:nvSpPr>
          <p:cNvPr id="20" name="Text 18"/>
          <p:cNvSpPr txBox="1"/>
          <p:nvPr/>
        </p:nvSpPr>
        <p:spPr>
          <a:xfrm>
            <a:off x="2377440" y="4983480"/>
            <a:ext cx="9052560" cy="11430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can be moved by CashPilot. There is no bank login, no lender API and no payment credential in the system, so no prompt, bug or exploit has anything to execute with.</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We attacked our own agent: every attempt was refused</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680960" cy="914400"/>
        </p:xfrm>
        <a:graphic>
          <a:graphicData uri="http://schemas.openxmlformats.org/drawingml/2006/table">
            <a:tbl>
              <a:tblPr/>
              <a:tblGrid>
                <a:gridCol w="4480560"/>
                <a:gridCol w="2377440"/>
                <a:gridCol w="822960"/>
              </a:tblGrid>
              <a:tr h="475488">
                <a:tc>
                  <a:txBody>
                    <a:bodyPr/>
                    <a:lstStyle/>
                    <a:p>
                      <a:pPr algn="l" indent="0" marL="0">
                        <a:buNone/>
                      </a:pPr>
                      <a:r>
                        <a:rPr lang="en-US" sz="1400" b="1" dirty="0">
                          <a:solidFill>
                            <a:srgbClr val="6EE7B7"/>
                          </a:solidFill>
                          <a:latin typeface="Calibri" pitchFamily="34" charset="0"/>
                          <a:ea typeface="Calibri" pitchFamily="34" charset="-122"/>
                          <a:cs typeface="Calibri" pitchFamily="34" charset="-120"/>
                        </a:rPr>
                        <a:t>Attack in the sandbox replay</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A2540"/>
                    </a:solidFill>
                  </a:tcPr>
                </a:tc>
                <a:tc>
                  <a:txBody>
                    <a:bodyPr/>
                    <a:lstStyle/>
                    <a:p>
                      <a:pPr algn="l" indent="0" marL="0">
                        <a:buNone/>
                      </a:pPr>
                      <a:r>
                        <a:rPr lang="en-US" sz="1400" b="1" dirty="0">
                          <a:solidFill>
                            <a:srgbClr val="6EE7B7"/>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A2540"/>
                    </a:solidFill>
                  </a:tcPr>
                </a:tc>
                <a:tc>
                  <a:txBody>
                    <a:bodyPr/>
                    <a:lstStyle/>
                    <a:p>
                      <a:pPr algn="ctr" indent="0" marL="0">
                        <a:buNone/>
                      </a:pPr>
                      <a:r>
                        <a:rPr lang="en-US" sz="1400" b="1" dirty="0">
                          <a:solidFill>
                            <a:srgbClr val="6EE7B7"/>
                          </a:solidFill>
                          <a:latin typeface="Calibri" pitchFamily="34" charset="0"/>
                          <a:ea typeface="Calibri" pitchFamily="34" charset="-122"/>
                          <a:cs typeface="Calibri" pitchFamily="34" charset="-120"/>
                        </a:rPr>
                        <a:t>HTTP</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A2540"/>
                    </a:solidFill>
                  </a:tcPr>
                </a:tc>
              </a:tr>
              <a:tr h="475488">
                <a:tc>
                  <a:txBody>
                    <a:bodyPr/>
                    <a:lstStyle/>
                    <a:p>
                      <a:pPr algn="l" indent="0" marL="0">
                        <a:buNone/>
                      </a:pPr>
                      <a:r>
                        <a:rPr lang="en-US" sz="1400" dirty="0">
                          <a:solidFill>
                            <a:srgbClr val="CBD5E1"/>
                          </a:solidFill>
                          <a:latin typeface="Calibri" pitchFamily="34" charset="0"/>
                          <a:ea typeface="Calibri" pitchFamily="34" charset="-122"/>
                          <a:cs typeface="Calibri" pitchFamily="34" charset="-120"/>
                        </a:rPr>
                        <a:t>Stage a proposal with no token / a forged token</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Refused</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401</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r>
              <a:tr h="475488">
                <a:tc>
                  <a:txBody>
                    <a:bodyPr/>
                    <a:lstStyle/>
                    <a:p>
                      <a:pPr algn="l" indent="0" marL="0">
                        <a:buNone/>
                      </a:pPr>
                      <a:r>
                        <a:rPr lang="en-US" sz="1400" dirty="0">
                          <a:solidFill>
                            <a:srgbClr val="CBD5E1"/>
                          </a:solidFill>
                          <a:latin typeface="Calibri" pitchFamily="34" charset="0"/>
                          <a:ea typeface="Calibri" pitchFamily="34" charset="-122"/>
                          <a:cs typeface="Calibri" pitchFamily="34" charset="-120"/>
                        </a:rPr>
                        <a:t>Mint a token with another tenant's enrollment key</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Refused</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403</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r>
              <a:tr h="475488">
                <a:tc>
                  <a:txBody>
                    <a:bodyPr/>
                    <a:lstStyle/>
                    <a:p>
                      <a:pPr algn="l" indent="0" marL="0">
                        <a:buNone/>
                      </a:pPr>
                      <a:r>
                        <a:rPr lang="en-US" sz="1400" dirty="0">
                          <a:solidFill>
                            <a:srgbClr val="CBD5E1"/>
                          </a:solidFill>
                          <a:latin typeface="Calibri" pitchFamily="34" charset="0"/>
                          <a:ea typeface="Calibri" pitchFamily="34" charset="-122"/>
                          <a:cs typeface="Calibri" pitchFamily="34" charset="-120"/>
                        </a:rPr>
                        <a:t>Read or approve another tenant's proposal</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Not found</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404</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r>
              <a:tr h="475488">
                <a:tc>
                  <a:txBody>
                    <a:bodyPr/>
                    <a:lstStyle/>
                    <a:p>
                      <a:pPr algn="l" indent="0" marL="0">
                        <a:buNone/>
                      </a:pPr>
                      <a:r>
                        <a:rPr lang="en-US" sz="1400" dirty="0">
                          <a:solidFill>
                            <a:srgbClr val="CBD5E1"/>
                          </a:solidFill>
                          <a:latin typeface="Calibri" pitchFamily="34" charset="0"/>
                          <a:ea typeface="Calibri" pitchFamily="34" charset="-122"/>
                          <a:cs typeface="Calibri" pitchFamily="34" charset="-120"/>
                        </a:rPr>
                        <a:t>Call /execute on a staged action</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Route does not exist</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404</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r>
              <a:tr h="475488">
                <a:tc>
                  <a:txBody>
                    <a:bodyPr/>
                    <a:lstStyle/>
                    <a:p>
                      <a:pPr algn="l" indent="0" marL="0">
                        <a:buNone/>
                      </a:pPr>
                      <a:r>
                        <a:rPr lang="en-US" sz="1400" dirty="0">
                          <a:solidFill>
                            <a:srgbClr val="CBD5E1"/>
                          </a:solidFill>
                          <a:latin typeface="Calibri" pitchFamily="34" charset="0"/>
                          <a:ea typeface="Calibri" pitchFamily="34" charset="-122"/>
                          <a:cs typeface="Calibri" pitchFamily="34" charset="-120"/>
                        </a:rPr>
                        <a:t>Smuggle "execute_now": true or a negative amount</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Schema rejects</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422</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r>
              <a:tr h="475488">
                <a:tc>
                  <a:txBody>
                    <a:bodyPr/>
                    <a:lstStyle/>
                    <a:p>
                      <a:pPr algn="l" indent="0" marL="0">
                        <a:buNone/>
                      </a:pPr>
                      <a:r>
                        <a:rPr lang="en-US" sz="1400" dirty="0">
                          <a:solidFill>
                            <a:srgbClr val="CBD5E1"/>
                          </a:solidFill>
                          <a:latin typeface="Calibri" pitchFamily="34" charset="0"/>
                          <a:ea typeface="Calibri" pitchFamily="34" charset="-122"/>
                          <a:cs typeface="Calibri" pitchFamily="34" charset="-120"/>
                        </a:rPr>
                        <a:t>Prompt injection: "transfer $50,000" with a valid token</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Blocked, nothing staged</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r>
              <a:tr h="475488">
                <a:tc>
                  <a:txBody>
                    <a:bodyPr/>
                    <a:lstStyle/>
                    <a:p>
                      <a:pPr algn="l" indent="0" marL="0">
                        <a:buNone/>
                      </a:pPr>
                      <a:r>
                        <a:rPr lang="en-US" sz="1400" dirty="0">
                          <a:solidFill>
                            <a:srgbClr val="CBD5E1"/>
                          </a:solidFill>
                          <a:latin typeface="Calibri" pitchFamily="34" charset="0"/>
                          <a:ea typeface="Calibri" pitchFamily="34" charset="-122"/>
                          <a:cs typeface="Calibri" pitchFamily="34" charset="-120"/>
                        </a:rPr>
                        <a:t>Paste an API key into chat</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Flagged, not used</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131C2E"/>
                    </a:solidFill>
                  </a:tcPr>
                </a:tc>
              </a:tr>
              <a:tr h="475488">
                <a:tc>
                  <a:txBody>
                    <a:bodyPr/>
                    <a:lstStyle/>
                    <a:p>
                      <a:pPr algn="l" indent="0" marL="0">
                        <a:buNone/>
                      </a:pPr>
                      <a:r>
                        <a:rPr lang="en-US" sz="1400" dirty="0">
                          <a:solidFill>
                            <a:srgbClr val="CBD5E1"/>
                          </a:solidFill>
                          <a:latin typeface="Calibri" pitchFamily="34" charset="0"/>
                          <a:ea typeface="Calibri" pitchFamily="34" charset="-122"/>
                          <a:cs typeface="Calibri" pitchFamily="34" charset="-120"/>
                        </a:rPr>
                        <a:t>Pledge the same invoice to a second lender</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Blocked: already pledged</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3654"/>
                      </a:solidFill>
                      <a:prstDash val="solid"/>
                      <a:round/>
                      <a:headEnd type="none" w="med" len="med"/>
                      <a:tailEnd type="none" w="med" len="med"/>
                    </a:lnL>
                    <a:lnR w="9525" cap="flat" cmpd="sng" algn="ctr">
                      <a:solidFill>
                        <a:srgbClr val="2A3654"/>
                      </a:solidFill>
                      <a:prstDash val="solid"/>
                      <a:round/>
                      <a:headEnd type="none" w="med" len="med"/>
                      <a:tailEnd type="none" w="med" len="med"/>
                    </a:lnR>
                    <a:lnT w="9525" cap="flat" cmpd="sng" algn="ctr">
                      <a:solidFill>
                        <a:srgbClr val="2A3654"/>
                      </a:solidFill>
                      <a:prstDash val="solid"/>
                      <a:round/>
                      <a:headEnd type="none" w="med" len="med"/>
                      <a:tailEnd type="none" w="med" len="med"/>
                    </a:lnT>
                    <a:lnB w="9525" cap="flat" cmpd="sng" algn="ctr">
                      <a:solidFill>
                        <a:srgbClr val="2A3654"/>
                      </a:solidFill>
                      <a:prstDash val="solid"/>
                      <a:round/>
                      <a:headEnd type="none" w="med" len="med"/>
                      <a:tailEnd type="none" w="med" len="med"/>
                    </a:lnB>
                    <a:solidFill>
                      <a:srgbClr val="0B1220"/>
                    </a:solidFill>
                  </a:tcPr>
                </a:tc>
              </a:tr>
            </a:tbl>
          </a:graphicData>
        </a:graphic>
      </p:graphicFrame>
      <p:sp>
        <p:nvSpPr>
          <p:cNvPr id="4" name="Shape 1"/>
          <p:cNvSpPr/>
          <p:nvPr/>
        </p:nvSpPr>
        <p:spPr>
          <a:xfrm>
            <a:off x="8503920" y="1371600"/>
            <a:ext cx="3108960" cy="1325880"/>
          </a:xfrm>
          <a:prstGeom prst="roundRect">
            <a:avLst>
              <a:gd name="adj" fmla="val 8276"/>
            </a:avLst>
          </a:prstGeom>
          <a:solidFill>
            <a:srgbClr val="131C2E"/>
          </a:solidFill>
          <a:ln w="9525">
            <a:solidFill>
              <a:srgbClr val="2A3654"/>
            </a:solidFill>
            <a:prstDash val="solid"/>
          </a:ln>
        </p:spPr>
      </p:sp>
      <p:sp>
        <p:nvSpPr>
          <p:cNvPr id="5" name="Text 2"/>
          <p:cNvSpPr txBox="1"/>
          <p:nvPr/>
        </p:nvSpPr>
        <p:spPr>
          <a:xfrm>
            <a:off x="8732520" y="1463040"/>
            <a:ext cx="2743200" cy="685800"/>
          </a:xfrm>
          <a:prstGeom prst="rect">
            <a:avLst/>
          </a:prstGeom>
          <a:noFill/>
          <a:ln/>
        </p:spPr>
        <p:txBody>
          <a:bodyPr wrap="square" lIns="0" tIns="0" rIns="0" bIns="0" rtlCol="0" anchor="ctr"/>
          <a:lstStyle/>
          <a:p>
            <a:pPr indent="0" marL="0">
              <a:buNone/>
            </a:pPr>
            <a:r>
              <a:rPr lang="en-US" sz="3600" b="1" dirty="0">
                <a:solidFill>
                  <a:srgbClr val="6EE7B7"/>
                </a:solidFill>
                <a:latin typeface="Calibri" pitchFamily="34" charset="0"/>
                <a:ea typeface="Calibri" pitchFamily="34" charset="-122"/>
                <a:cs typeface="Calibri" pitchFamily="34" charset="-120"/>
              </a:rPr>
              <a:t>34/34</a:t>
            </a:r>
            <a:endParaRPr lang="en-US" sz="3600" dirty="0"/>
          </a:p>
        </p:txBody>
      </p:sp>
      <p:sp>
        <p:nvSpPr>
          <p:cNvPr id="6" name="Text 3"/>
          <p:cNvSpPr txBox="1"/>
          <p:nvPr/>
        </p:nvSpPr>
        <p:spPr>
          <a:xfrm>
            <a:off x="8732520" y="2121408"/>
            <a:ext cx="2743200" cy="5029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sandbox operations behaved as expected</a:t>
            </a:r>
            <a:endParaRPr lang="en-US" sz="1300" dirty="0"/>
          </a:p>
        </p:txBody>
      </p:sp>
      <p:sp>
        <p:nvSpPr>
          <p:cNvPr id="7" name="Shape 4"/>
          <p:cNvSpPr/>
          <p:nvPr/>
        </p:nvSpPr>
        <p:spPr>
          <a:xfrm>
            <a:off x="8503920" y="2852928"/>
            <a:ext cx="3108960" cy="1325880"/>
          </a:xfrm>
          <a:prstGeom prst="roundRect">
            <a:avLst>
              <a:gd name="adj" fmla="val 8276"/>
            </a:avLst>
          </a:prstGeom>
          <a:solidFill>
            <a:srgbClr val="131C2E"/>
          </a:solidFill>
          <a:ln w="9525">
            <a:solidFill>
              <a:srgbClr val="2A3654"/>
            </a:solidFill>
            <a:prstDash val="solid"/>
          </a:ln>
        </p:spPr>
      </p:sp>
      <p:sp>
        <p:nvSpPr>
          <p:cNvPr id="8" name="Text 5"/>
          <p:cNvSpPr txBox="1"/>
          <p:nvPr/>
        </p:nvSpPr>
        <p:spPr>
          <a:xfrm>
            <a:off x="8732520" y="2944368"/>
            <a:ext cx="2743200" cy="685800"/>
          </a:xfrm>
          <a:prstGeom prst="rect">
            <a:avLst/>
          </a:prstGeom>
          <a:noFill/>
          <a:ln/>
        </p:spPr>
        <p:txBody>
          <a:bodyPr wrap="square" lIns="0" tIns="0" rIns="0" bIns="0" rtlCol="0" anchor="ctr"/>
          <a:lstStyle/>
          <a:p>
            <a:pPr indent="0" marL="0">
              <a:buNone/>
            </a:pPr>
            <a:r>
              <a:rPr lang="en-US" sz="3600" b="1" dirty="0">
                <a:solidFill>
                  <a:srgbClr val="6EE7B7"/>
                </a:solidFill>
                <a:latin typeface="Calibri" pitchFamily="34" charset="0"/>
                <a:ea typeface="Calibri" pitchFamily="34" charset="-122"/>
                <a:cs typeface="Calibri" pitchFamily="34" charset="-120"/>
              </a:rPr>
              <a:t>54</a:t>
            </a:r>
            <a:endParaRPr lang="en-US" sz="3600" dirty="0"/>
          </a:p>
        </p:txBody>
      </p:sp>
      <p:sp>
        <p:nvSpPr>
          <p:cNvPr id="9" name="Text 6"/>
          <p:cNvSpPr txBox="1"/>
          <p:nvPr/>
        </p:nvSpPr>
        <p:spPr>
          <a:xfrm>
            <a:off x="8732520" y="3602736"/>
            <a:ext cx="2743200" cy="5029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security tests passing (1 POSIX-only skip)</a:t>
            </a:r>
            <a:endParaRPr lang="en-US" sz="1300" dirty="0"/>
          </a:p>
        </p:txBody>
      </p:sp>
      <p:sp>
        <p:nvSpPr>
          <p:cNvPr id="10" name="Shape 7"/>
          <p:cNvSpPr/>
          <p:nvPr/>
        </p:nvSpPr>
        <p:spPr>
          <a:xfrm>
            <a:off x="8503920" y="4334256"/>
            <a:ext cx="3108960" cy="1325880"/>
          </a:xfrm>
          <a:prstGeom prst="roundRect">
            <a:avLst>
              <a:gd name="adj" fmla="val 8276"/>
            </a:avLst>
          </a:prstGeom>
          <a:solidFill>
            <a:srgbClr val="131C2E"/>
          </a:solidFill>
          <a:ln w="9525">
            <a:solidFill>
              <a:srgbClr val="2A3654"/>
            </a:solidFill>
            <a:prstDash val="solid"/>
          </a:ln>
        </p:spPr>
      </p:sp>
      <p:sp>
        <p:nvSpPr>
          <p:cNvPr id="11" name="Text 8"/>
          <p:cNvSpPr txBox="1"/>
          <p:nvPr/>
        </p:nvSpPr>
        <p:spPr>
          <a:xfrm>
            <a:off x="8732520" y="4425696"/>
            <a:ext cx="2743200" cy="685800"/>
          </a:xfrm>
          <a:prstGeom prst="rect">
            <a:avLst/>
          </a:prstGeom>
          <a:noFill/>
          <a:ln/>
        </p:spPr>
        <p:txBody>
          <a:bodyPr wrap="square" lIns="0" tIns="0" rIns="0" bIns="0" rtlCol="0" anchor="ctr"/>
          <a:lstStyle/>
          <a:p>
            <a:pPr indent="0" marL="0">
              <a:buNone/>
            </a:pPr>
            <a:r>
              <a:rPr lang="en-US" sz="3600" b="1" dirty="0">
                <a:solidFill>
                  <a:srgbClr val="6EE7B7"/>
                </a:solidFill>
                <a:latin typeface="Calibri" pitchFamily="34" charset="0"/>
                <a:ea typeface="Calibri" pitchFamily="34" charset="-122"/>
                <a:cs typeface="Calibri" pitchFamily="34" charset="-120"/>
              </a:rPr>
              <a:t>0</a:t>
            </a:r>
            <a:endParaRPr lang="en-US" sz="3600" dirty="0"/>
          </a:p>
        </p:txBody>
      </p:sp>
      <p:sp>
        <p:nvSpPr>
          <p:cNvPr id="12" name="Text 9"/>
          <p:cNvSpPr txBox="1"/>
          <p:nvPr/>
        </p:nvSpPr>
        <p:spPr>
          <a:xfrm>
            <a:off x="8732520" y="5084064"/>
            <a:ext cx="2743200" cy="5029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known Python dependency vulnerabilities (pip-audit)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Verified, not claimed</a:t>
            </a:r>
            <a:endParaRPr lang="en-US" sz="3200" dirty="0"/>
          </a:p>
        </p:txBody>
      </p:sp>
      <p:sp>
        <p:nvSpPr>
          <p:cNvPr id="3" name="Shape 1"/>
          <p:cNvSpPr/>
          <p:nvPr/>
        </p:nvSpPr>
        <p:spPr>
          <a:xfrm>
            <a:off x="548640" y="1417320"/>
            <a:ext cx="2624328" cy="2286000"/>
          </a:xfrm>
          <a:prstGeom prst="roundRect">
            <a:avLst>
              <a:gd name="adj" fmla="val 4800"/>
            </a:avLst>
          </a:prstGeom>
          <a:solidFill>
            <a:srgbClr val="131C2E"/>
          </a:solidFill>
          <a:ln w="9525">
            <a:solidFill>
              <a:srgbClr val="2A3654"/>
            </a:solidFill>
            <a:prstDash val="solid"/>
          </a:ln>
        </p:spPr>
      </p:sp>
      <p:sp>
        <p:nvSpPr>
          <p:cNvPr id="4" name="Text 2"/>
          <p:cNvSpPr txBox="1"/>
          <p:nvPr/>
        </p:nvSpPr>
        <p:spPr>
          <a:xfrm>
            <a:off x="822960" y="1554480"/>
            <a:ext cx="2194560" cy="914400"/>
          </a:xfrm>
          <a:prstGeom prst="rect">
            <a:avLst/>
          </a:prstGeom>
          <a:noFill/>
          <a:ln/>
        </p:spPr>
        <p:txBody>
          <a:bodyPr wrap="square" lIns="0" tIns="0" rIns="0" bIns="0" rtlCol="0" anchor="ctr"/>
          <a:lstStyle/>
          <a:p>
            <a:pPr indent="0" marL="0">
              <a:buNone/>
            </a:pPr>
            <a:r>
              <a:rPr lang="en-US" sz="4800" b="1" dirty="0">
                <a:solidFill>
                  <a:srgbClr val="6EE7B7"/>
                </a:solidFill>
                <a:latin typeface="Calibri" pitchFamily="34" charset="0"/>
                <a:ea typeface="Calibri" pitchFamily="34" charset="-122"/>
                <a:cs typeface="Calibri" pitchFamily="34" charset="-120"/>
              </a:rPr>
              <a:t>969</a:t>
            </a:r>
            <a:endParaRPr lang="en-US" sz="4800" dirty="0"/>
          </a:p>
        </p:txBody>
      </p:sp>
      <p:sp>
        <p:nvSpPr>
          <p:cNvPr id="5" name="Text 3"/>
          <p:cNvSpPr txBox="1"/>
          <p:nvPr/>
        </p:nvSpPr>
        <p:spPr>
          <a:xfrm>
            <a:off x="822960" y="2468880"/>
            <a:ext cx="21945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automated tests passing</a:t>
            </a:r>
            <a:endParaRPr lang="en-US" sz="1600" dirty="0"/>
          </a:p>
        </p:txBody>
      </p:sp>
      <p:sp>
        <p:nvSpPr>
          <p:cNvPr id="6" name="Text 4"/>
          <p:cNvSpPr txBox="1"/>
          <p:nvPr/>
        </p:nvSpPr>
        <p:spPr>
          <a:xfrm>
            <a:off x="822960" y="2880360"/>
            <a:ext cx="2194560" cy="7315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unit 809 · integration 104 · security 54 (+1 skip) · e2e 2</a:t>
            </a:r>
            <a:endParaRPr lang="en-US" sz="1300" dirty="0"/>
          </a:p>
        </p:txBody>
      </p:sp>
      <p:sp>
        <p:nvSpPr>
          <p:cNvPr id="7" name="Shape 5"/>
          <p:cNvSpPr/>
          <p:nvPr/>
        </p:nvSpPr>
        <p:spPr>
          <a:xfrm>
            <a:off x="3355848" y="1417320"/>
            <a:ext cx="2624328" cy="2286000"/>
          </a:xfrm>
          <a:prstGeom prst="roundRect">
            <a:avLst>
              <a:gd name="adj" fmla="val 4800"/>
            </a:avLst>
          </a:prstGeom>
          <a:solidFill>
            <a:srgbClr val="131C2E"/>
          </a:solidFill>
          <a:ln w="9525">
            <a:solidFill>
              <a:srgbClr val="2A3654"/>
            </a:solidFill>
            <a:prstDash val="solid"/>
          </a:ln>
        </p:spPr>
      </p:sp>
      <p:sp>
        <p:nvSpPr>
          <p:cNvPr id="8" name="Text 6"/>
          <p:cNvSpPr txBox="1"/>
          <p:nvPr/>
        </p:nvSpPr>
        <p:spPr>
          <a:xfrm>
            <a:off x="3630168" y="1554480"/>
            <a:ext cx="2194560" cy="914400"/>
          </a:xfrm>
          <a:prstGeom prst="rect">
            <a:avLst/>
          </a:prstGeom>
          <a:noFill/>
          <a:ln/>
        </p:spPr>
        <p:txBody>
          <a:bodyPr wrap="square" lIns="0" tIns="0" rIns="0" bIns="0" rtlCol="0" anchor="ctr"/>
          <a:lstStyle/>
          <a:p>
            <a:pPr indent="0" marL="0">
              <a:buNone/>
            </a:pPr>
            <a:r>
              <a:rPr lang="en-US" sz="4800" b="1" dirty="0">
                <a:solidFill>
                  <a:srgbClr val="6EE7B7"/>
                </a:solidFill>
                <a:latin typeface="Calibri" pitchFamily="34" charset="0"/>
                <a:ea typeface="Calibri" pitchFamily="34" charset="-122"/>
                <a:cs typeface="Calibri" pitchFamily="34" charset="-120"/>
              </a:rPr>
              <a:t>25</a:t>
            </a:r>
            <a:endParaRPr lang="en-US" sz="4800" dirty="0"/>
          </a:p>
        </p:txBody>
      </p:sp>
      <p:sp>
        <p:nvSpPr>
          <p:cNvPr id="9" name="Text 7"/>
          <p:cNvSpPr txBox="1"/>
          <p:nvPr/>
        </p:nvSpPr>
        <p:spPr>
          <a:xfrm>
            <a:off x="3630168" y="2468880"/>
            <a:ext cx="21945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Decimal finance engines</a:t>
            </a:r>
            <a:endParaRPr lang="en-US" sz="1600" dirty="0"/>
          </a:p>
        </p:txBody>
      </p:sp>
      <p:sp>
        <p:nvSpPr>
          <p:cNvPr id="10" name="Text 8"/>
          <p:cNvSpPr txBox="1"/>
          <p:nvPr/>
        </p:nvSpPr>
        <p:spPr>
          <a:xfrm>
            <a:off x="3630168" y="2880360"/>
            <a:ext cx="2194560" cy="7315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money never touches float or the LLM</a:t>
            </a:r>
            <a:endParaRPr lang="en-US" sz="1300" dirty="0"/>
          </a:p>
        </p:txBody>
      </p:sp>
      <p:sp>
        <p:nvSpPr>
          <p:cNvPr id="11" name="Shape 9"/>
          <p:cNvSpPr/>
          <p:nvPr/>
        </p:nvSpPr>
        <p:spPr>
          <a:xfrm>
            <a:off x="6163056" y="1417320"/>
            <a:ext cx="2624328" cy="2286000"/>
          </a:xfrm>
          <a:prstGeom prst="roundRect">
            <a:avLst>
              <a:gd name="adj" fmla="val 4800"/>
            </a:avLst>
          </a:prstGeom>
          <a:solidFill>
            <a:srgbClr val="131C2E"/>
          </a:solidFill>
          <a:ln w="9525">
            <a:solidFill>
              <a:srgbClr val="2A3654"/>
            </a:solidFill>
            <a:prstDash val="solid"/>
          </a:ln>
        </p:spPr>
      </p:sp>
      <p:sp>
        <p:nvSpPr>
          <p:cNvPr id="12" name="Text 10"/>
          <p:cNvSpPr txBox="1"/>
          <p:nvPr/>
        </p:nvSpPr>
        <p:spPr>
          <a:xfrm>
            <a:off x="6437376" y="1554480"/>
            <a:ext cx="2194560" cy="914400"/>
          </a:xfrm>
          <a:prstGeom prst="rect">
            <a:avLst/>
          </a:prstGeom>
          <a:noFill/>
          <a:ln/>
        </p:spPr>
        <p:txBody>
          <a:bodyPr wrap="square" lIns="0" tIns="0" rIns="0" bIns="0" rtlCol="0" anchor="ctr"/>
          <a:lstStyle/>
          <a:p>
            <a:pPr indent="0" marL="0">
              <a:buNone/>
            </a:pPr>
            <a:r>
              <a:rPr lang="en-US" sz="4800" b="1" dirty="0">
                <a:solidFill>
                  <a:srgbClr val="6EE7B7"/>
                </a:solidFill>
                <a:latin typeface="Calibri" pitchFamily="34" charset="0"/>
                <a:ea typeface="Calibri" pitchFamily="34" charset="-122"/>
                <a:cs typeface="Calibri" pitchFamily="34" charset="-120"/>
              </a:rPr>
              <a:t>15</a:t>
            </a:r>
            <a:endParaRPr lang="en-US" sz="4800" dirty="0"/>
          </a:p>
        </p:txBody>
      </p:sp>
      <p:sp>
        <p:nvSpPr>
          <p:cNvPr id="13" name="Text 11"/>
          <p:cNvSpPr txBox="1"/>
          <p:nvPr/>
        </p:nvSpPr>
        <p:spPr>
          <a:xfrm>
            <a:off x="6437376" y="2468880"/>
            <a:ext cx="21945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JSON policy tables</a:t>
            </a:r>
            <a:endParaRPr lang="en-US" sz="1600" dirty="0"/>
          </a:p>
        </p:txBody>
      </p:sp>
      <p:sp>
        <p:nvSpPr>
          <p:cNvPr id="14" name="Text 12"/>
          <p:cNvSpPr txBox="1"/>
          <p:nvPr/>
        </p:nvSpPr>
        <p:spPr>
          <a:xfrm>
            <a:off x="6437376" y="2880360"/>
            <a:ext cx="2194560" cy="7315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credit, usury, covenants, security gate</a:t>
            </a:r>
            <a:endParaRPr lang="en-US" sz="1300" dirty="0"/>
          </a:p>
        </p:txBody>
      </p:sp>
      <p:sp>
        <p:nvSpPr>
          <p:cNvPr id="15" name="Shape 13"/>
          <p:cNvSpPr/>
          <p:nvPr/>
        </p:nvSpPr>
        <p:spPr>
          <a:xfrm>
            <a:off x="8970264" y="1417320"/>
            <a:ext cx="2624328" cy="2286000"/>
          </a:xfrm>
          <a:prstGeom prst="roundRect">
            <a:avLst>
              <a:gd name="adj" fmla="val 4800"/>
            </a:avLst>
          </a:prstGeom>
          <a:solidFill>
            <a:srgbClr val="131C2E"/>
          </a:solidFill>
          <a:ln w="9525">
            <a:solidFill>
              <a:srgbClr val="2A3654"/>
            </a:solidFill>
            <a:prstDash val="solid"/>
          </a:ln>
        </p:spPr>
      </p:sp>
      <p:sp>
        <p:nvSpPr>
          <p:cNvPr id="16" name="Text 14"/>
          <p:cNvSpPr txBox="1"/>
          <p:nvPr/>
        </p:nvSpPr>
        <p:spPr>
          <a:xfrm>
            <a:off x="9244584" y="1554480"/>
            <a:ext cx="2194560" cy="914400"/>
          </a:xfrm>
          <a:prstGeom prst="rect">
            <a:avLst/>
          </a:prstGeom>
          <a:noFill/>
          <a:ln/>
        </p:spPr>
        <p:txBody>
          <a:bodyPr wrap="square" lIns="0" tIns="0" rIns="0" bIns="0" rtlCol="0" anchor="ctr"/>
          <a:lstStyle/>
          <a:p>
            <a:pPr indent="0" marL="0">
              <a:buNone/>
            </a:pPr>
            <a:r>
              <a:rPr lang="en-US" sz="4800" b="1" dirty="0">
                <a:solidFill>
                  <a:srgbClr val="6EE7B7"/>
                </a:solidFill>
                <a:latin typeface="Calibri" pitchFamily="34" charset="0"/>
                <a:ea typeface="Calibri" pitchFamily="34" charset="-122"/>
                <a:cs typeface="Calibri" pitchFamily="34" charset="-120"/>
              </a:rPr>
              <a:t>2:04</a:t>
            </a:r>
            <a:endParaRPr lang="en-US" sz="4800" dirty="0"/>
          </a:p>
        </p:txBody>
      </p:sp>
      <p:sp>
        <p:nvSpPr>
          <p:cNvPr id="17" name="Text 15"/>
          <p:cNvSpPr txBox="1"/>
          <p:nvPr/>
        </p:nvSpPr>
        <p:spPr>
          <a:xfrm>
            <a:off x="9244584" y="2468880"/>
            <a:ext cx="21945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demo video</a:t>
            </a:r>
            <a:endParaRPr lang="en-US" sz="1600" dirty="0"/>
          </a:p>
        </p:txBody>
      </p:sp>
      <p:sp>
        <p:nvSpPr>
          <p:cNvPr id="18" name="Text 16"/>
          <p:cNvSpPr txBox="1"/>
          <p:nvPr/>
        </p:nvSpPr>
        <p:spPr>
          <a:xfrm>
            <a:off x="9244584" y="2880360"/>
            <a:ext cx="2194560" cy="7315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narrated · real UI, live backend, local model</a:t>
            </a:r>
            <a:endParaRPr lang="en-US" sz="1300" dirty="0"/>
          </a:p>
        </p:txBody>
      </p:sp>
      <p:sp>
        <p:nvSpPr>
          <p:cNvPr id="19" name="Shape 17"/>
          <p:cNvSpPr/>
          <p:nvPr/>
        </p:nvSpPr>
        <p:spPr>
          <a:xfrm>
            <a:off x="502920" y="3931920"/>
            <a:ext cx="3611880" cy="2291715"/>
          </a:xfrm>
          <a:prstGeom prst="roundRect">
            <a:avLst>
              <a:gd name="adj" fmla="val 3192"/>
            </a:avLst>
          </a:prstGeom>
          <a:solidFill>
            <a:srgbClr val="2A3654"/>
          </a:solidFill>
          <a:ln w="12700">
            <a:solidFill>
              <a:srgbClr val="2A3654"/>
            </a:solidFill>
            <a:prstDash val="solid"/>
          </a:ln>
        </p:spPr>
      </p:sp>
      <p:pic>
        <p:nvPicPr>
          <p:cNvPr id="20" name="Image 0" descr="F:\SME Finance Copilot\submission\03-demo-video\screenshots\11-overview-live.png">    </p:cNvPr>
          <p:cNvPicPr>
            <a:picLocks noChangeAspect="1"/>
          </p:cNvPicPr>
          <p:nvPr/>
        </p:nvPicPr>
        <p:blipFill>
          <a:blip r:embed="rId1"/>
          <a:stretch>
            <a:fillRect/>
          </a:stretch>
        </p:blipFill>
        <p:spPr>
          <a:xfrm>
            <a:off x="548640" y="3977640"/>
            <a:ext cx="3520440" cy="2200275"/>
          </a:xfrm>
          <a:prstGeom prst="rect">
            <a:avLst/>
          </a:prstGeom>
        </p:spPr>
      </p:pic>
      <p:sp>
        <p:nvSpPr>
          <p:cNvPr id="21" name="Text 18"/>
          <p:cNvSpPr txBox="1"/>
          <p:nvPr/>
        </p:nvSpPr>
        <p:spPr>
          <a:xfrm>
            <a:off x="4434840" y="3977640"/>
            <a:ext cx="7132320" cy="457200"/>
          </a:xfrm>
          <a:prstGeom prst="rect">
            <a:avLst/>
          </a:prstGeom>
          <a:noFill/>
          <a:ln/>
        </p:spPr>
        <p:txBody>
          <a:bodyPr wrap="square" lIns="0" tIns="0" rIns="0" bIns="0" rtlCol="0" anchor="ctr"/>
          <a:lstStyle/>
          <a:p>
            <a:pPr indent="0" marL="0">
              <a:buNone/>
            </a:pPr>
            <a:r>
              <a:rPr lang="en-US" sz="2000" b="1" dirty="0">
                <a:solidFill>
                  <a:srgbClr val="6EE7B7"/>
                </a:solidFill>
                <a:latin typeface="Calibri" pitchFamily="34" charset="0"/>
                <a:ea typeface="Calibri" pitchFamily="34" charset="-122"/>
                <a:cs typeface="Calibri" pitchFamily="34" charset="-120"/>
              </a:rPr>
              <a:t>Live mode, not a mock-up</a:t>
            </a:r>
            <a:endParaRPr lang="en-US" sz="2000" dirty="0"/>
          </a:p>
        </p:txBody>
      </p:sp>
      <p:sp>
        <p:nvSpPr>
          <p:cNvPr id="22" name="Text 19"/>
          <p:cNvSpPr txBox="1"/>
          <p:nvPr/>
        </p:nvSpPr>
        <p:spPr>
          <a:xfrm>
            <a:off x="4434840" y="4480560"/>
            <a:ext cx="7132320"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A 94-transaction CSV goes through the FastAPI backend: parsed, scored and forecast in about 0.13 s</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Sandbox logs record every request and response with UTC timestamps; tokens and keys are redacted</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Docker compose, CI container smoke test, MIT licence, one-command reproduction scripts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What is built today, and what comes next</a:t>
            </a:r>
            <a:endParaRPr lang="en-US" sz="3200" dirty="0"/>
          </a:p>
        </p:txBody>
      </p:sp>
      <p:sp>
        <p:nvSpPr>
          <p:cNvPr id="3" name="Shape 1"/>
          <p:cNvSpPr/>
          <p:nvPr/>
        </p:nvSpPr>
        <p:spPr>
          <a:xfrm>
            <a:off x="548640" y="1417320"/>
            <a:ext cx="5394960" cy="4663440"/>
          </a:xfrm>
          <a:prstGeom prst="roundRect">
            <a:avLst>
              <a:gd name="adj" fmla="val 2353"/>
            </a:avLst>
          </a:prstGeom>
          <a:solidFill>
            <a:srgbClr val="131C2E"/>
          </a:solidFill>
          <a:ln w="9525">
            <a:solidFill>
              <a:srgbClr val="2A3654"/>
            </a:solidFill>
            <a:prstDash val="solid"/>
          </a:ln>
        </p:spPr>
      </p:sp>
      <p:sp>
        <p:nvSpPr>
          <p:cNvPr id="4" name="Text 2"/>
          <p:cNvSpPr txBox="1"/>
          <p:nvPr/>
        </p:nvSpPr>
        <p:spPr>
          <a:xfrm>
            <a:off x="868680" y="1600200"/>
            <a:ext cx="4846320" cy="457200"/>
          </a:xfrm>
          <a:prstGeom prst="rect">
            <a:avLst/>
          </a:prstGeom>
          <a:noFill/>
          <a:ln/>
        </p:spPr>
        <p:txBody>
          <a:bodyPr wrap="square" lIns="0" tIns="0" rIns="0" bIns="0" rtlCol="0" anchor="ctr"/>
          <a:lstStyle/>
          <a:p>
            <a:pPr indent="0" marL="0">
              <a:buNone/>
            </a:pPr>
            <a:r>
              <a:rPr lang="en-US" sz="2000" b="1" dirty="0">
                <a:solidFill>
                  <a:srgbClr val="6EE7B7"/>
                </a:solidFill>
                <a:latin typeface="Calibri" pitchFamily="34" charset="0"/>
                <a:ea typeface="Calibri" pitchFamily="34" charset="-122"/>
                <a:cs typeface="Calibri" pitchFamily="34" charset="-120"/>
              </a:rPr>
              <a:t>Built and tested</a:t>
            </a:r>
            <a:endParaRPr lang="en-US" sz="2000" dirty="0"/>
          </a:p>
        </p:txBody>
      </p:sp>
      <p:sp>
        <p:nvSpPr>
          <p:cNvPr id="5" name="Text 3"/>
          <p:cNvSpPr txBox="1"/>
          <p:nvPr/>
        </p:nvSpPr>
        <p:spPr>
          <a:xfrm>
            <a:off x="868680" y="2148840"/>
            <a:ext cx="484632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CSV + PDF statement ingestion with row-level error codes</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Cash forecast, shortfall date and alert status</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Liquidity scoring, financing match, true APR, usury flag</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AI CFO chat with grounding check, local 2B model</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Three-tier gate, signed tenant tokens, encryption at rest</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Invoice double-pledge registry (local simulation)</a:t>
            </a:r>
            <a:endParaRPr lang="en-US" sz="1500" dirty="0"/>
          </a:p>
        </p:txBody>
      </p:sp>
      <p:sp>
        <p:nvSpPr>
          <p:cNvPr id="6" name="Shape 4"/>
          <p:cNvSpPr/>
          <p:nvPr/>
        </p:nvSpPr>
        <p:spPr>
          <a:xfrm>
            <a:off x="6217920" y="1417320"/>
            <a:ext cx="5394960" cy="4663440"/>
          </a:xfrm>
          <a:prstGeom prst="roundRect">
            <a:avLst>
              <a:gd name="adj" fmla="val 2353"/>
            </a:avLst>
          </a:prstGeom>
          <a:solidFill>
            <a:srgbClr val="131C2E"/>
          </a:solidFill>
          <a:ln w="9525">
            <a:solidFill>
              <a:srgbClr val="2A3654"/>
            </a:solidFill>
            <a:prstDash val="solid"/>
          </a:ln>
        </p:spPr>
      </p:sp>
      <p:sp>
        <p:nvSpPr>
          <p:cNvPr id="7" name="Text 5"/>
          <p:cNvSpPr txBox="1"/>
          <p:nvPr/>
        </p:nvSpPr>
        <p:spPr>
          <a:xfrm>
            <a:off x="6537960" y="1600200"/>
            <a:ext cx="4846320" cy="457200"/>
          </a:xfrm>
          <a:prstGeom prst="rect">
            <a:avLst/>
          </a:prstGeom>
          <a:noFill/>
          <a:ln/>
        </p:spPr>
        <p:txBody>
          <a:bodyPr wrap="square" lIns="0" tIns="0" rIns="0" bIns="0"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Next</a:t>
            </a:r>
            <a:endParaRPr lang="en-US" sz="2000" dirty="0"/>
          </a:p>
        </p:txBody>
      </p:sp>
      <p:sp>
        <p:nvSpPr>
          <p:cNvPr id="8" name="Text 6"/>
          <p:cNvSpPr txBox="1"/>
          <p:nvPr/>
        </p:nvSpPr>
        <p:spPr>
          <a:xfrm>
            <a:off x="6537960" y="2148840"/>
            <a:ext cx="484632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Deploy InvoiceRegistry.sol on a FISCO BCOS consortium chain with lender nodes</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PostgreSQL with row-level security and append-only ledger tables</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Read-only open-banking feeds in place of uploads (still no write scope)</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Push alerts when the forecast crosses the owner's threshold</a:t>
            </a:r>
            <a:endParaRPr lang="en-US" sz="1500" dirty="0"/>
          </a:p>
          <a:p>
            <a:pPr marL="342900" indent="-342900">
              <a:spcAft>
                <a:spcPts val="800"/>
              </a:spcAft>
              <a:buSzPct val="100000"/>
              <a:buChar char="•"/>
            </a:pPr>
            <a:r>
              <a:rPr lang="en-US" sz="1500" dirty="0">
                <a:solidFill>
                  <a:srgbClr val="CBD5E1"/>
                </a:solidFill>
                <a:latin typeface="Calibri" pitchFamily="34" charset="0"/>
                <a:ea typeface="Calibri" pitchFamily="34" charset="-122"/>
                <a:cs typeface="Calibri" pitchFamily="34" charset="-120"/>
              </a:rPr>
              <a:t>OIDC sign-in and token revocation; an NER model for one-word names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1188720"/>
            <a:ext cx="1069848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An AI that participates in a business's finances</a:t>
            </a:r>
            <a:endParaRPr lang="en-US" sz="3600" dirty="0"/>
          </a:p>
        </p:txBody>
      </p:sp>
      <p:sp>
        <p:nvSpPr>
          <p:cNvPr id="3" name="Text 1"/>
          <p:cNvSpPr txBox="1"/>
          <p:nvPr/>
        </p:nvSpPr>
        <p:spPr>
          <a:xfrm>
            <a:off x="731520" y="1920240"/>
            <a:ext cx="10698480" cy="731520"/>
          </a:xfrm>
          <a:prstGeom prst="rect">
            <a:avLst/>
          </a:prstGeom>
          <a:noFill/>
          <a:ln/>
        </p:spPr>
        <p:txBody>
          <a:bodyPr wrap="square" lIns="0" tIns="0" rIns="0" bIns="0" rtlCol="0" anchor="ctr"/>
          <a:lstStyle/>
          <a:p>
            <a:pPr indent="0" marL="0">
              <a:buNone/>
            </a:pPr>
            <a:r>
              <a:rPr lang="en-US" sz="3600" b="1" dirty="0">
                <a:solidFill>
                  <a:srgbClr val="6EE7B7"/>
                </a:solidFill>
                <a:latin typeface="Calibri" pitchFamily="34" charset="0"/>
                <a:ea typeface="Calibri" pitchFamily="34" charset="-122"/>
                <a:cs typeface="Calibri" pitchFamily="34" charset="-120"/>
              </a:rPr>
              <a:t>without ever holding its money</a:t>
            </a:r>
            <a:endParaRPr lang="en-US" sz="3600" dirty="0"/>
          </a:p>
        </p:txBody>
      </p:sp>
      <p:sp>
        <p:nvSpPr>
          <p:cNvPr id="4" name="Shape 2"/>
          <p:cNvSpPr/>
          <p:nvPr/>
        </p:nvSpPr>
        <p:spPr>
          <a:xfrm>
            <a:off x="731520" y="3108960"/>
            <a:ext cx="3429000" cy="1645920"/>
          </a:xfrm>
          <a:prstGeom prst="roundRect">
            <a:avLst>
              <a:gd name="adj" fmla="val 6667"/>
            </a:avLst>
          </a:prstGeom>
          <a:solidFill>
            <a:srgbClr val="131C2E"/>
          </a:solidFill>
          <a:ln w="9525">
            <a:solidFill>
              <a:srgbClr val="2A3654"/>
            </a:solidFill>
            <a:prstDash val="solid"/>
          </a:ln>
        </p:spPr>
      </p:sp>
      <p:sp>
        <p:nvSpPr>
          <p:cNvPr id="5" name="Text 3"/>
          <p:cNvSpPr txBox="1"/>
          <p:nvPr/>
        </p:nvSpPr>
        <p:spPr>
          <a:xfrm>
            <a:off x="1005840" y="3291840"/>
            <a:ext cx="2926080" cy="457200"/>
          </a:xfrm>
          <a:prstGeom prst="rect">
            <a:avLst/>
          </a:prstGeom>
          <a:noFill/>
          <a:ln/>
        </p:spPr>
        <p:txBody>
          <a:bodyPr wrap="square" lIns="0" tIns="0" rIns="0" bIns="0" rtlCol="0" anchor="ctr"/>
          <a:lstStyle/>
          <a:p>
            <a:pPr indent="0" marL="0">
              <a:buNone/>
            </a:pPr>
            <a:r>
              <a:rPr lang="en-US" sz="2000" b="1" dirty="0">
                <a:solidFill>
                  <a:srgbClr val="6EE7B7"/>
                </a:solidFill>
                <a:latin typeface="Calibri" pitchFamily="34" charset="0"/>
                <a:ea typeface="Calibri" pitchFamily="34" charset="-122"/>
                <a:cs typeface="Calibri" pitchFamily="34" charset="-120"/>
              </a:rPr>
              <a:t>Task</a:t>
            </a:r>
            <a:endParaRPr lang="en-US" sz="2000" dirty="0"/>
          </a:p>
        </p:txBody>
      </p:sp>
      <p:sp>
        <p:nvSpPr>
          <p:cNvPr id="6" name="Text 4"/>
          <p:cNvSpPr txBox="1"/>
          <p:nvPr/>
        </p:nvSpPr>
        <p:spPr>
          <a:xfrm>
            <a:off x="1005840" y="3794760"/>
            <a:ext cx="2926080" cy="86868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Alerts, financing match and analysis from one statement</a:t>
            </a:r>
            <a:endParaRPr lang="en-US" sz="1500" dirty="0"/>
          </a:p>
        </p:txBody>
      </p:sp>
      <p:sp>
        <p:nvSpPr>
          <p:cNvPr id="7" name="Shape 5"/>
          <p:cNvSpPr/>
          <p:nvPr/>
        </p:nvSpPr>
        <p:spPr>
          <a:xfrm>
            <a:off x="4389120" y="3108960"/>
            <a:ext cx="3429000" cy="1645920"/>
          </a:xfrm>
          <a:prstGeom prst="roundRect">
            <a:avLst>
              <a:gd name="adj" fmla="val 6667"/>
            </a:avLst>
          </a:prstGeom>
          <a:solidFill>
            <a:srgbClr val="131C2E"/>
          </a:solidFill>
          <a:ln w="9525">
            <a:solidFill>
              <a:srgbClr val="2A3654"/>
            </a:solidFill>
            <a:prstDash val="solid"/>
          </a:ln>
        </p:spPr>
      </p:sp>
      <p:sp>
        <p:nvSpPr>
          <p:cNvPr id="8" name="Text 6"/>
          <p:cNvSpPr txBox="1"/>
          <p:nvPr/>
        </p:nvSpPr>
        <p:spPr>
          <a:xfrm>
            <a:off x="4663440" y="3291840"/>
            <a:ext cx="2926080" cy="457200"/>
          </a:xfrm>
          <a:prstGeom prst="rect">
            <a:avLst/>
          </a:prstGeom>
          <a:noFill/>
          <a:ln/>
        </p:spPr>
        <p:txBody>
          <a:bodyPr wrap="square" lIns="0" tIns="0" rIns="0" bIns="0" rtlCol="0" anchor="ctr"/>
          <a:lstStyle/>
          <a:p>
            <a:pPr indent="0" marL="0">
              <a:buNone/>
            </a:pPr>
            <a:r>
              <a:rPr lang="en-US" sz="2000" b="1" dirty="0">
                <a:solidFill>
                  <a:srgbClr val="6EE7B7"/>
                </a:solidFill>
                <a:latin typeface="Calibri" pitchFamily="34" charset="0"/>
                <a:ea typeface="Calibri" pitchFamily="34" charset="-122"/>
                <a:cs typeface="Calibri" pitchFamily="34" charset="-120"/>
              </a:rPr>
              <a:t>Security</a:t>
            </a:r>
            <a:endParaRPr lang="en-US" sz="2000" dirty="0"/>
          </a:p>
        </p:txBody>
      </p:sp>
      <p:sp>
        <p:nvSpPr>
          <p:cNvPr id="9" name="Text 7"/>
          <p:cNvSpPr txBox="1"/>
          <p:nvPr/>
        </p:nvSpPr>
        <p:spPr>
          <a:xfrm>
            <a:off x="4663440" y="3794760"/>
            <a:ext cx="2926080" cy="86868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Tier 3 is owner-sent: no route, no credential, $0 movable</a:t>
            </a:r>
            <a:endParaRPr lang="en-US" sz="1500" dirty="0"/>
          </a:p>
        </p:txBody>
      </p:sp>
      <p:sp>
        <p:nvSpPr>
          <p:cNvPr id="10" name="Shape 8"/>
          <p:cNvSpPr/>
          <p:nvPr/>
        </p:nvSpPr>
        <p:spPr>
          <a:xfrm>
            <a:off x="8046720" y="3108960"/>
            <a:ext cx="3429000" cy="1645920"/>
          </a:xfrm>
          <a:prstGeom prst="roundRect">
            <a:avLst>
              <a:gd name="adj" fmla="val 6667"/>
            </a:avLst>
          </a:prstGeom>
          <a:solidFill>
            <a:srgbClr val="131C2E"/>
          </a:solidFill>
          <a:ln w="9525">
            <a:solidFill>
              <a:srgbClr val="2A3654"/>
            </a:solidFill>
            <a:prstDash val="solid"/>
          </a:ln>
        </p:spPr>
      </p:sp>
      <p:sp>
        <p:nvSpPr>
          <p:cNvPr id="11" name="Text 9"/>
          <p:cNvSpPr txBox="1"/>
          <p:nvPr/>
        </p:nvSpPr>
        <p:spPr>
          <a:xfrm>
            <a:off x="8321040" y="3291840"/>
            <a:ext cx="2926080" cy="457200"/>
          </a:xfrm>
          <a:prstGeom prst="rect">
            <a:avLst/>
          </a:prstGeom>
          <a:noFill/>
          <a:ln/>
        </p:spPr>
        <p:txBody>
          <a:bodyPr wrap="square" lIns="0" tIns="0" rIns="0" bIns="0" rtlCol="0" anchor="ctr"/>
          <a:lstStyle/>
          <a:p>
            <a:pPr indent="0" marL="0">
              <a:buNone/>
            </a:pPr>
            <a:r>
              <a:rPr lang="en-US" sz="2000" b="1" dirty="0">
                <a:solidFill>
                  <a:srgbClr val="6EE7B7"/>
                </a:solidFill>
                <a:latin typeface="Calibri" pitchFamily="34" charset="0"/>
                <a:ea typeface="Calibri" pitchFamily="34" charset="-122"/>
                <a:cs typeface="Calibri" pitchFamily="34" charset="-120"/>
              </a:rPr>
              <a:t>Innovation</a:t>
            </a:r>
            <a:endParaRPr lang="en-US" sz="2000" dirty="0"/>
          </a:p>
        </p:txBody>
      </p:sp>
      <p:sp>
        <p:nvSpPr>
          <p:cNvPr id="12" name="Text 10"/>
          <p:cNvSpPr txBox="1"/>
          <p:nvPr/>
        </p:nvSpPr>
        <p:spPr>
          <a:xfrm>
            <a:off x="8321040" y="3794760"/>
            <a:ext cx="2926080" cy="868680"/>
          </a:xfrm>
          <a:prstGeom prst="rect">
            <a:avLst/>
          </a:prstGeom>
          <a:noFill/>
          <a:ln/>
        </p:spPr>
        <p:txBody>
          <a:bodyPr wrap="square" lIns="0" tIns="0" rIns="0" bIns="0" rtlCol="0" anchor="t"/>
          <a:lstStyle/>
          <a:p>
            <a:pPr indent="0" marL="0">
              <a:buNone/>
            </a:pPr>
            <a:r>
              <a:rPr lang="en-US" sz="1500" dirty="0">
                <a:solidFill>
                  <a:srgbClr val="CBD5E1"/>
                </a:solidFill>
                <a:latin typeface="Calibri" pitchFamily="34" charset="0"/>
                <a:ea typeface="Calibri" pitchFamily="34" charset="-122"/>
                <a:cs typeface="Calibri" pitchFamily="34" charset="-120"/>
              </a:rPr>
              <a:t>Grounded numbers, on-device model, policy as data</a:t>
            </a:r>
            <a:endParaRPr lang="en-US" sz="1500" dirty="0"/>
          </a:p>
        </p:txBody>
      </p:sp>
      <p:sp>
        <p:nvSpPr>
          <p:cNvPr id="13" name="Text 11"/>
          <p:cNvSpPr txBox="1"/>
          <p:nvPr/>
        </p:nvSpPr>
        <p:spPr>
          <a:xfrm>
            <a:off x="731520" y="5303520"/>
            <a:ext cx="10698480" cy="457200"/>
          </a:xfrm>
          <a:prstGeom prst="rect">
            <a:avLst/>
          </a:prstGeom>
          <a:noFill/>
          <a:ln/>
        </p:spPr>
        <p:txBody>
          <a:bodyPr wrap="square" lIns="0" tIns="0" rIns="0" bIns="0" rtlCol="0" anchor="ctr"/>
          <a:lstStyle/>
          <a:p>
            <a:pPr indent="0" marL="0">
              <a:buNone/>
            </a:pPr>
            <a:r>
              <a:rPr lang="en-US" sz="2000" dirty="0">
                <a:solidFill>
                  <a:srgbClr val="FFFFFF"/>
                </a:solidFill>
                <a:latin typeface="Courier New" pitchFamily="34" charset="0"/>
                <a:ea typeface="Courier New" pitchFamily="34" charset="-122"/>
                <a:cs typeface="Courier New" pitchFamily="34" charset="-120"/>
              </a:rPr>
              <a:t>github.com/SamJU25/F-SME-Finance-Copilot</a:t>
            </a:r>
            <a:endParaRPr lang="en-US" sz="2000" dirty="0"/>
          </a:p>
        </p:txBody>
      </p:sp>
      <p:sp>
        <p:nvSpPr>
          <p:cNvPr id="14" name="Text 12"/>
          <p:cNvSpPr txBox="1"/>
          <p:nvPr/>
        </p:nvSpPr>
        <p:spPr>
          <a:xfrm>
            <a:off x="731520" y="5852160"/>
            <a:ext cx="1069848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Sampad Chakma · Purno Dewan · Binoy Kumar Chakma · Parban Chakma  —  thank you,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FinTechathon 2026 International Track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CashPilot - SME Finance Copilot</dc:title>
  <dc:subject>PptxGenJS Presentation</dc:subject>
  <dc:creator>CashPilot team</dc:creator>
  <cp:lastModifiedBy>CashPilot team</cp:lastModifiedBy>
  <cp:revision>1</cp:revision>
  <dcterms:created xsi:type="dcterms:W3CDTF">2026-10-20T14:33:33Z</dcterms:created>
  <dcterms:modified xsi:type="dcterms:W3CDTF">2026-10-20T14:33:33Z</dcterms:modified>
</cp:coreProperties>
</file>